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Challenges in Interpreting Ultrafast Spectroscopy Data: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D6F1"/>
                </a:solidFill>
              </a:defRPr>
            </a:pPr>
            <a:r>
              <a:t>A Case for Machine Learning in Materials Research  •  Muhammed Arshad T.  •  Inst. Macromolecular Chemistry, 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276"/>
                </a:solidFill>
              </a:defRPr>
            </a:pPr>
            <a:r>
              <a:t>THE PROBLEM</a:t>
            </a:r>
          </a:p>
          <a:p>
            <a:pPr>
              <a:defRPr sz="1000" b="0"/>
            </a:pPr>
          </a:p>
          <a:p>
            <a:pPr>
              <a:defRPr sz="1400" b="0"/>
            </a:pPr>
            <a:r>
              <a:t>Transient Absorption (TA) spectroscopy:</a:t>
            </a:r>
          </a:p>
          <a:p>
            <a:pPr>
              <a:defRPr sz="1300" b="0"/>
            </a:pPr>
            <a:r>
              <a:t>• 2D data: ΔA(wavelength, time)</a:t>
            </a:r>
          </a:p>
          <a:p>
            <a:pPr>
              <a:defRPr sz="1300" b="0"/>
            </a:pPr>
            <a:r>
              <a:t>• Multiple kinetic models fit the same data</a:t>
            </a:r>
          </a:p>
          <a:p>
            <a:pPr>
              <a:defRPr sz="1300" b="0"/>
            </a:pPr>
            <a:r>
              <a:t>• Expert manually guesses model → hours/sample</a:t>
            </a:r>
          </a:p>
          <a:p>
            <a:pPr>
              <a:defRPr sz="1300" b="0"/>
            </a:pPr>
            <a:r>
              <a:t>• Subjective, slow, doesn't scale</a:t>
            </a:r>
          </a:p>
          <a:p>
            <a:pPr>
              <a:defRPr sz="1000" b="0"/>
            </a:pPr>
          </a:p>
          <a:p>
            <a:pPr>
              <a:defRPr sz="1600" b="1">
                <a:solidFill>
                  <a:srgbClr val="1A5276"/>
                </a:solidFill>
              </a:defRPr>
            </a:pPr>
            <a:r>
              <a:t>OUR SYSTEM</a:t>
            </a:r>
          </a:p>
          <a:p>
            <a:pPr>
              <a:defRPr sz="1300" b="0"/>
            </a:pPr>
            <a:r>
              <a:t>• H/D-substituted porphyrin (CBK-H, CBK-D)</a:t>
            </a:r>
          </a:p>
          <a:p>
            <a:pPr>
              <a:defRPr sz="1300" b="0"/>
            </a:pPr>
            <a:r>
              <a:t>• Sequential: A → B → C → Ground State</a:t>
            </a:r>
          </a:p>
          <a:p>
            <a:pPr>
              <a:defRPr sz="1300" b="1">
                <a:solidFill>
                  <a:srgbClr val="E67E22"/>
                </a:solidFill>
              </a:defRPr>
            </a:pPr>
            <a:r>
              <a:t>• Question: Can ML automate model selection?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276"/>
                </a:solidFill>
              </a:defRPr>
            </a:pPr>
            <a:r>
              <a:t>THREE ML APPROACHES TESTED</a:t>
            </a:r>
          </a:p>
          <a:p>
            <a:pPr>
              <a:defRPr sz="800" b="0"/>
            </a:pPr>
          </a:p>
          <a:p>
            <a:pPr>
              <a:defRPr sz="1500" b="1">
                <a:solidFill>
                  <a:srgbClr val="E74C3C"/>
                </a:solidFill>
              </a:defRPr>
            </a:pPr>
            <a:r>
              <a:t>1. CNN Classification (DeepSKAN v1)</a:t>
            </a:r>
          </a:p>
          <a:p>
            <a:pPr>
              <a:defRPr sz="1200" b="0"/>
            </a:pPr>
            <a:r>
              <a:t>   • Treat TA as image → classify into 21 topologies</a:t>
            </a:r>
          </a:p>
          <a:p>
            <a:pPr>
              <a:defRPr sz="1200" b="0"/>
            </a:pPr>
            <a:r>
              <a:t>   • Trained on 50k synthetic samples</a:t>
            </a:r>
          </a:p>
          <a:p>
            <a:pPr>
              <a:defRPr sz="800" b="0"/>
            </a:pPr>
          </a:p>
          <a:p>
            <a:pPr>
              <a:defRPr sz="1500" b="1">
                <a:solidFill>
                  <a:srgbClr val="27AE60"/>
                </a:solidFill>
              </a:defRPr>
            </a:pPr>
            <a:r>
              <a:t>2. Physics-Informed (PINN)</a:t>
            </a:r>
          </a:p>
          <a:p>
            <a:pPr>
              <a:defRPr sz="1200" b="0"/>
            </a:pPr>
            <a:r>
              <a:t>   • Embed kinetic ODEs into the loss function</a:t>
            </a:r>
          </a:p>
          <a:p>
            <a:pPr>
              <a:defRPr sz="1200" b="0"/>
            </a:pPr>
            <a:r>
              <a:t>   • No training data needed — fits single dataset</a:t>
            </a:r>
          </a:p>
          <a:p>
            <a:pPr>
              <a:defRPr sz="800" b="0"/>
            </a:pPr>
          </a:p>
          <a:p>
            <a:pPr>
              <a:defRPr sz="1500" b="1">
                <a:solidFill>
                  <a:srgbClr val="E67E22"/>
                </a:solidFill>
              </a:defRPr>
            </a:pPr>
            <a:r>
              <a:t>3. Improved CNN (DeepSKAN v2)</a:t>
            </a:r>
          </a:p>
          <a:p>
            <a:pPr>
              <a:defRPr sz="1200" b="0"/>
            </a:pPr>
            <a:r>
              <a:t>   • Regression (predict τ directly, not class label)</a:t>
            </a:r>
          </a:p>
          <a:p>
            <a:pPr>
              <a:defRPr sz="1200" b="0"/>
            </a:pPr>
            <a:r>
              <a:t>   • Realistic spectra from SVD of real data</a:t>
            </a:r>
          </a:p>
          <a:p>
            <a:pPr>
              <a:defRPr sz="1200" b="0"/>
            </a:pPr>
            <a:r>
              <a:t>   • 2-channel input (signal + time axis)</a:t>
            </a:r>
          </a:p>
        </p:txBody>
      </p:sp>
      <p:pic>
        <p:nvPicPr>
          <p:cNvPr id="7" name="Picture 6" descr="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0"/>
            <a:ext cx="5337581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Results: What Worked, What Failed,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D6F1"/>
                </a:solidFill>
              </a:defRPr>
            </a:pPr>
            <a:r>
              <a:t>ML4MatSci PhD School  •  Sarajevo, June 10-12,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5276"/>
                </a:solidFill>
                <a:latin typeface="Consolas"/>
              </a:defRPr>
            </a:pPr>
            <a:r>
              <a:t>RESULTS COMPARISON (CBK-D, chirp-corrected)</a:t>
            </a:r>
          </a:p>
          <a:p>
            <a:pPr>
              <a:defRPr sz="800" b="0">
                <a:latin typeface="Consolas"/>
              </a:defRPr>
            </a:pPr>
          </a:p>
          <a:p>
            <a:pPr>
              <a:defRPr sz="1100" b="0">
                <a:latin typeface="Consolas"/>
              </a:defRPr>
            </a:pPr>
            <a:r>
              <a:t>Method              τ₁        τ₂        τ₃       Status</a:t>
            </a:r>
          </a:p>
          <a:p>
            <a:pPr>
              <a:defRPr sz="1100" b="0"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</a:t>
            </a:r>
          </a:p>
          <a:p>
            <a:pPr>
              <a:defRPr sz="1100" b="1">
                <a:solidFill>
                  <a:srgbClr val="E74C3C"/>
                </a:solidFill>
                <a:latin typeface="Consolas"/>
              </a:defRPr>
            </a:pPr>
            <a:r>
              <a:t>DeepSKAN v1     0.1 ps    0.0 ps    —         FAILED</a:t>
            </a:r>
          </a:p>
          <a:p>
            <a:pPr>
              <a:defRPr sz="1100" b="0">
                <a:latin typeface="Consolas"/>
              </a:defRPr>
            </a:pPr>
            <a:r>
              <a:t>Direct GA       6.8 ps    68.9 ps   6185 ps   Partial</a:t>
            </a:r>
          </a:p>
          <a:p>
            <a:pPr>
              <a:defRPr sz="1100" b="1">
                <a:solidFill>
                  <a:srgbClr val="27AE60"/>
                </a:solidFill>
                <a:latin typeface="Consolas"/>
              </a:defRPr>
            </a:pPr>
            <a:r>
              <a:t>PINN            9.6 ps    92.6 ps   &gt;6 ns     BEST</a:t>
            </a:r>
          </a:p>
          <a:p>
            <a:pPr>
              <a:defRPr sz="1100" b="0">
                <a:solidFill>
                  <a:srgbClr val="E67E22"/>
                </a:solidFill>
                <a:latin typeface="Consolas"/>
              </a:defRPr>
            </a:pPr>
            <a:r>
              <a:t>DeepSKAN v2     9.7 ps    348 ps    7265 ps   Good</a:t>
            </a:r>
          </a:p>
          <a:p>
            <a:pPr>
              <a:defRPr sz="1000" b="0">
                <a:latin typeface="Consolas"/>
              </a:defRPr>
            </a:pPr>
          </a:p>
          <a:p>
            <a:pPr>
              <a:defRPr sz="1400" b="1">
                <a:solidFill>
                  <a:srgbClr val="1A5276"/>
                </a:solidFill>
                <a:latin typeface="Consolas"/>
              </a:defRPr>
            </a:pPr>
            <a:r>
              <a:t>ISOTOPE EFFECT (D/H ratio):</a:t>
            </a:r>
          </a:p>
          <a:p>
            <a:pPr>
              <a:defRPr sz="1200" b="0">
                <a:latin typeface="Consolas"/>
              </a:defRPr>
            </a:pPr>
            <a:r>
              <a:t>  τ₁: 0.72x (inverse KIE — D relaxes faster)</a:t>
            </a:r>
          </a:p>
          <a:p>
            <a:pPr>
              <a:defRPr sz="1200" b="0">
                <a:latin typeface="Consolas"/>
              </a:defRPr>
            </a:pPr>
            <a:r>
              <a:t>  τ₂: 0.56x (inverse KIE)</a:t>
            </a:r>
          </a:p>
          <a:p>
            <a:pPr>
              <a:defRPr sz="1200" b="0">
                <a:latin typeface="Consolas"/>
              </a:defRPr>
            </a:pPr>
            <a:r>
              <a:t>  τ₃: 2.35x (normal KIE — D lives longer)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276"/>
                </a:solidFill>
              </a:defRPr>
            </a:pPr>
            <a:r>
              <a:t>KEY LESSONS</a:t>
            </a:r>
          </a:p>
          <a:p>
            <a:pPr>
              <a:defRPr sz="800" b="0"/>
            </a:pPr>
          </a:p>
          <a:p>
            <a:pPr>
              <a:defRPr sz="1400" b="1">
                <a:solidFill>
                  <a:srgbClr val="E74C3C"/>
                </a:solidFill>
              </a:defRPr>
            </a:pPr>
            <a:r>
              <a:t>Why CNN v1 failed:</a:t>
            </a:r>
          </a:p>
          <a:p>
            <a:pPr>
              <a:defRPr sz="1200" b="0"/>
            </a:pPr>
            <a:r>
              <a:t>• Sim-to-real gap (random Gaussians ≠ real spectra)</a:t>
            </a:r>
          </a:p>
          <a:p>
            <a:pPr>
              <a:defRPr sz="1200" b="0"/>
            </a:pPr>
            <a:r>
              <a:t>• Preprocessing destroyed time-scale info</a:t>
            </a:r>
          </a:p>
          <a:p>
            <a:pPr>
              <a:defRPr sz="1200" b="0"/>
            </a:pPr>
            <a:r>
              <a:t>• Classification → wrong model → everything fails</a:t>
            </a:r>
          </a:p>
          <a:p>
            <a:pPr>
              <a:defRPr sz="800" b="0"/>
            </a:pPr>
          </a:p>
          <a:p>
            <a:pPr>
              <a:defRPr sz="1400" b="1">
                <a:solidFill>
                  <a:srgbClr val="27AE60"/>
                </a:solidFill>
              </a:defRPr>
            </a:pPr>
            <a:r>
              <a:t>What works:</a:t>
            </a:r>
          </a:p>
          <a:p>
            <a:pPr>
              <a:defRPr sz="1200" b="0"/>
            </a:pPr>
            <a:r>
              <a:t>• Physics-informed fitting (PINN) — best accuracy</a:t>
            </a:r>
          </a:p>
          <a:p>
            <a:pPr>
              <a:defRPr sz="1200" b="0"/>
            </a:pPr>
            <a:r>
              <a:t>• Realistic training data (from SVD of real spectra)</a:t>
            </a:r>
          </a:p>
          <a:p>
            <a:pPr>
              <a:defRPr sz="1200" b="0"/>
            </a:pPr>
            <a:r>
              <a:t>• Regression &gt; Classification for this problem</a:t>
            </a:r>
          </a:p>
          <a:p>
            <a:pPr>
              <a:defRPr sz="800" b="0"/>
            </a:pPr>
          </a:p>
          <a:p>
            <a:pPr>
              <a:defRPr sz="1400" b="1">
                <a:solidFill>
                  <a:srgbClr val="E67E22"/>
                </a:solidFill>
              </a:defRPr>
            </a:pPr>
            <a:r>
              <a:t>FUTURE DIRECTION:</a:t>
            </a:r>
          </a:p>
          <a:p>
            <a:pPr>
              <a:defRPr sz="1200" b="0"/>
            </a:pPr>
            <a:r>
              <a:t>• Agentic AI: LLM reads literature →</a:t>
            </a:r>
          </a:p>
          <a:p>
            <a:pPr>
              <a:defRPr sz="1200" b="0"/>
            </a:pPr>
            <a:r>
              <a:t>  proposes model → fits data automatically</a:t>
            </a:r>
          </a:p>
          <a:p>
            <a:pPr>
              <a:defRPr sz="1200" b="0"/>
            </a:pPr>
            <a:r>
              <a:t>• Eliminates sim-to-real gap entirely</a:t>
            </a:r>
          </a:p>
          <a:p>
            <a:pPr>
              <a:defRPr sz="1200" b="0"/>
            </a:pPr>
            <a:r>
              <a:t>• No training data needed</a:t>
            </a:r>
          </a:p>
        </p:txBody>
      </p:sp>
      <p:pic>
        <p:nvPicPr>
          <p:cNvPr id="7" name="Picture 6" descr="PINN_isotope_effec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54880"/>
            <a:ext cx="2953783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