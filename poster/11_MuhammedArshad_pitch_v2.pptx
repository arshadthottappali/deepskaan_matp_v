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Ultrafast Dynamics of H/D-Substituted Porphyrin: An Anomalous Isotope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ED6F1"/>
                </a:solidFill>
              </a:defRPr>
            </a:pPr>
            <a:r>
              <a:t>Muhammed Arshad T.  |  Institute of Macromolecular Chemistry, Czech Academy of Sciences  |  ML4MatSci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5276"/>
                </a:solidFill>
              </a:defRPr>
            </a:pPr>
            <a:r>
              <a:t>Transient Absorption Spectroscopy</a:t>
            </a:r>
          </a:p>
          <a:p>
            <a:pPr>
              <a:defRPr sz="600" b="0"/>
            </a:pPr>
          </a:p>
          <a:p>
            <a:pPr>
              <a:defRPr sz="1300" b="0"/>
            </a:pPr>
            <a:r>
              <a:t>System: CBK porphyrin complex</a:t>
            </a:r>
          </a:p>
          <a:p>
            <a:pPr>
              <a:defRPr sz="1200" b="0"/>
            </a:pPr>
            <a:r>
              <a:t>  • CBK-H (protonated) vs CBK-D (deuterated)</a:t>
            </a:r>
          </a:p>
          <a:p>
            <a:pPr>
              <a:defRPr sz="1200" b="0"/>
            </a:pPr>
            <a:r>
              <a:t>  • Excitation: 476 nm, WLC probe 430-800 nm</a:t>
            </a:r>
          </a:p>
          <a:p>
            <a:pPr>
              <a:defRPr sz="600" b="0"/>
            </a:pPr>
          </a:p>
          <a:p>
            <a:pPr>
              <a:defRPr sz="1400" b="1">
                <a:solidFill>
                  <a:srgbClr val="1A5276"/>
                </a:solidFill>
              </a:defRPr>
            </a:pPr>
            <a:r>
              <a:t>Forced Sequential Model: A → B → C → GS</a:t>
            </a:r>
          </a:p>
          <a:p>
            <a:pPr>
              <a:defRPr sz="1100" b="0">
                <a:solidFill>
                  <a:srgbClr val="5D6D7E"/>
                </a:solidFill>
              </a:defRPr>
            </a:pPr>
            <a:r>
              <a:t>(Global Analysis with 3 exponentials + IRF)</a:t>
            </a:r>
          </a:p>
          <a:p>
            <a:pPr>
              <a:defRPr sz="600" b="0"/>
            </a:pPr>
          </a:p>
          <a:p>
            <a:pPr>
              <a:defRPr sz="1400" b="1">
                <a:solidFill>
                  <a:srgbClr val="27AE60"/>
                </a:solidFill>
              </a:defRPr>
            </a:pPr>
            <a:r>
              <a:t>Results:</a:t>
            </a:r>
          </a:p>
          <a:p>
            <a:pPr>
              <a:defRPr sz="1100" b="0"/>
            </a:pPr>
            <a:r>
              <a:t>  Component    CBK-D      CBK-H      D/H</a:t>
            </a:r>
          </a:p>
          <a:p>
            <a:pPr>
              <a:defRPr sz="1100" b="0"/>
            </a:pPr>
            <a:r>
              <a:t>  τ₁ (A→B)     9.6 ps     13.4 ps    0.72</a:t>
            </a:r>
          </a:p>
          <a:p>
            <a:pPr>
              <a:defRPr sz="1100" b="0"/>
            </a:pPr>
            <a:r>
              <a:t>  τ₂ (B→C)     92.6 ps    166.8 ps   0.56</a:t>
            </a:r>
          </a:p>
          <a:p>
            <a:pPr>
              <a:defRPr sz="1100" b="0"/>
            </a:pPr>
            <a:r>
              <a:t>  τ₃ (C→GS)    &gt;6 ns      &gt;6 ns      2.35</a:t>
            </a:r>
          </a:p>
          <a:p>
            <a:pPr>
              <a:defRPr sz="600" b="0"/>
            </a:pPr>
          </a:p>
          <a:p>
            <a:pPr>
              <a:defRPr sz="1400" b="1">
                <a:solidFill>
                  <a:srgbClr val="E74C3C"/>
                </a:solidFill>
              </a:defRPr>
            </a:pPr>
            <a:r>
              <a:t>ANOMALY:</a:t>
            </a:r>
          </a:p>
          <a:p>
            <a:pPr>
              <a:defRPr sz="1200" b="1">
                <a:solidFill>
                  <a:srgbClr val="E74C3C"/>
                </a:solidFill>
              </a:defRPr>
            </a:pPr>
            <a:r>
              <a:t>τ₁, τ₂: D is FASTER (inverse isotope effect)</a:t>
            </a:r>
          </a:p>
          <a:p>
            <a:pPr>
              <a:defRPr sz="1200" b="0">
                <a:solidFill>
                  <a:srgbClr val="5D6D7E"/>
                </a:solidFill>
              </a:defRPr>
            </a:pPr>
            <a:r>
              <a:t>Expected: D should be SLOWER</a:t>
            </a:r>
          </a:p>
          <a:p>
            <a:pPr>
              <a:defRPr sz="1200" b="0"/>
            </a:pPr>
            <a:r>
              <a:t>→ Suggests tunneling or mode-coupling</a:t>
            </a:r>
          </a:p>
          <a:p>
            <a:pPr>
              <a:defRPr sz="600" b="0"/>
            </a:pPr>
          </a:p>
          <a:p>
            <a:pPr>
              <a:defRPr sz="1200" b="1">
                <a:solidFill>
                  <a:srgbClr val="E67E22"/>
                </a:solidFill>
              </a:defRPr>
            </a:pPr>
            <a:r>
              <a:t>But: we had to FORCE the sequential model.</a:t>
            </a:r>
          </a:p>
          <a:p>
            <a:pPr>
              <a:defRPr sz="1200" b="1">
                <a:solidFill>
                  <a:srgbClr val="E67E22"/>
                </a:solidFill>
              </a:defRPr>
            </a:pPr>
            <a:r>
              <a:t>Can ML suggest the right model automatically?</a:t>
            </a:r>
          </a:p>
        </p:txBody>
      </p:sp>
      <p:pic>
        <p:nvPicPr>
          <p:cNvPr id="6" name="Picture 5" descr="ta_heat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6912110" cy="2560320"/>
          </a:xfrm>
          <a:prstGeom prst="rect">
            <a:avLst/>
          </a:prstGeom>
        </p:spPr>
      </p:pic>
      <p:pic>
        <p:nvPicPr>
          <p:cNvPr id="7" name="Picture 6" descr="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4023360"/>
            <a:ext cx="6793285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Can ML Automate Kinetic Model Selection?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ED6F1"/>
                </a:solidFill>
              </a:defRPr>
            </a:pPr>
            <a:r>
              <a:t>From DeepSKAN (Kollenz et al. JPCB 2020) to our improved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5276"/>
                </a:solidFill>
              </a:defRPr>
            </a:pPr>
            <a:r>
              <a:t>DeepSKAN: CNN for Kinetic Topology Classification</a:t>
            </a:r>
          </a:p>
          <a:p>
            <a:pPr>
              <a:defRPr sz="1000" b="0">
                <a:solidFill>
                  <a:srgbClr val="5D6D7E"/>
                </a:solidFill>
              </a:defRPr>
            </a:pPr>
            <a:r>
              <a:t>Kollenz et al., J. Phys. Chem. B (2020)</a:t>
            </a:r>
          </a:p>
          <a:p>
            <a:pPr>
              <a:defRPr sz="1000" b="0">
                <a:solidFill>
                  <a:srgbClr val="5D6D7E"/>
                </a:solidFill>
              </a:defRPr>
            </a:pPr>
            <a:r>
              <a:t>DOI: 10.1021/acs.jpcb.0c04299</a:t>
            </a:r>
          </a:p>
          <a:p>
            <a:pPr>
              <a:defRPr sz="600" b="0"/>
            </a:pPr>
          </a:p>
          <a:p>
            <a:pPr>
              <a:defRPr sz="1200" b="0"/>
            </a:pPr>
            <a:r>
              <a:t>Idea: Treat 2D TA map as IMAGE → classify topology</a:t>
            </a:r>
          </a:p>
          <a:p>
            <a:pPr>
              <a:defRPr sz="400" b="0"/>
            </a:pPr>
          </a:p>
          <a:p>
            <a:pPr>
              <a:defRPr sz="1200" b="1"/>
            </a:pPr>
            <a:r>
              <a:t>  TA map (256×64) → ResNet CNN → 1 of 21 classes</a:t>
            </a:r>
          </a:p>
          <a:p>
            <a:pPr>
              <a:defRPr sz="600" b="0"/>
            </a:pPr>
          </a:p>
          <a:p>
            <a:pPr>
              <a:defRPr sz="1300" b="1">
                <a:solidFill>
                  <a:srgbClr val="1A5276"/>
                </a:solidFill>
              </a:defRPr>
            </a:pPr>
            <a:r>
              <a:t>Our Implementation:</a:t>
            </a:r>
          </a:p>
          <a:p>
            <a:pPr>
              <a:defRPr sz="1100" b="0"/>
            </a:pPr>
            <a:r>
              <a:t>  • 7-block ResNet + BatchNorm + Dropout</a:t>
            </a:r>
          </a:p>
          <a:p>
            <a:pPr>
              <a:defRPr sz="1100" b="0"/>
            </a:pPr>
            <a:r>
              <a:t>  • Trained on 100k synthetic samples (T4 GPU)</a:t>
            </a:r>
          </a:p>
          <a:p>
            <a:pPr>
              <a:defRPr sz="1100" b="0"/>
            </a:pPr>
            <a:r>
              <a:t>  • 72% validation accuracy on 21 classes</a:t>
            </a:r>
          </a:p>
          <a:p>
            <a:pPr>
              <a:defRPr sz="600" b="0"/>
            </a:pPr>
          </a:p>
          <a:p>
            <a:pPr>
              <a:defRPr sz="1300" b="1">
                <a:solidFill>
                  <a:srgbClr val="E67E22"/>
                </a:solidFill>
              </a:defRPr>
            </a:pPr>
            <a:r>
              <a:t>Predictions on Real Data:</a:t>
            </a:r>
          </a:p>
          <a:p>
            <a:pPr>
              <a:defRPr sz="400" b="0"/>
            </a:pPr>
          </a:p>
          <a:p>
            <a:pPr>
              <a:defRPr sz="1200" b="0"/>
            </a:pPr>
            <a:r>
              <a:t>  CBK-D: Class 19 (branching), confidence 40%</a:t>
            </a:r>
          </a:p>
          <a:p>
            <a:pPr>
              <a:defRPr sz="1200" b="0"/>
            </a:pPr>
            <a:r>
              <a:t>  CBK-H: Class 6  (sequential), confidence 59%</a:t>
            </a:r>
          </a:p>
          <a:p>
            <a:pPr>
              <a:defRPr sz="600" b="0"/>
            </a:pPr>
          </a:p>
          <a:p>
            <a:pPr>
              <a:defRPr sz="1200" b="1">
                <a:solidFill>
                  <a:srgbClr val="27AE60"/>
                </a:solidFill>
              </a:defRPr>
            </a:pPr>
            <a:r>
              <a:t>  CBK-H prediction is CLOSE to correct!</a:t>
            </a:r>
          </a:p>
          <a:p>
            <a:pPr>
              <a:defRPr sz="1200" b="1">
                <a:solidFill>
                  <a:srgbClr val="E74C3C"/>
                </a:solidFill>
              </a:defRPr>
            </a:pPr>
            <a:r>
              <a:t>  CBK-D prediction is WRONG (we know it's sequential)</a:t>
            </a:r>
          </a:p>
          <a:p>
            <a:pPr>
              <a:defRPr sz="600" b="0"/>
            </a:pPr>
          </a:p>
          <a:p>
            <a:pPr>
              <a:defRPr sz="1300" b="1">
                <a:solidFill>
                  <a:srgbClr val="1A5276"/>
                </a:solidFill>
              </a:defRPr>
            </a:pPr>
            <a:r>
              <a:t>Key Insight:</a:t>
            </a:r>
          </a:p>
          <a:p>
            <a:pPr>
              <a:defRPr sz="1100" b="0"/>
            </a:pPr>
            <a:r>
              <a:t>  • Low confidence = model honestly reports uncertainty</a:t>
            </a:r>
          </a:p>
          <a:p>
            <a:pPr>
              <a:defRPr sz="1100" b="0"/>
            </a:pPr>
            <a:r>
              <a:t>  • Sim-to-real gap: synthetic training ≠ real spectra</a:t>
            </a:r>
          </a:p>
          <a:p>
            <a:pPr>
              <a:defRPr sz="1100" b="0"/>
            </a:pPr>
            <a:r>
              <a:t>  • Classification is hard; regression (predict τ) works better</a:t>
            </a:r>
          </a:p>
        </p:txBody>
      </p:sp>
      <p:pic>
        <p:nvPicPr>
          <p:cNvPr id="6" name="Picture 5" descr="CBK-D_373NAnEn_newdepo0614_sample_NAnEn_SaphWLC_476nm_Avg2_5scan_25uW -bg -chirp_conf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3657600" cy="1828800"/>
          </a:xfrm>
          <a:prstGeom prst="rect">
            <a:avLst/>
          </a:prstGeom>
        </p:spPr>
      </p:pic>
      <p:pic>
        <p:nvPicPr>
          <p:cNvPr id="7" name="Picture 6" descr="CBK-H_232NAnEn_newdepo0614_sample_NAnEn_SaphWLC_476nm_Avg2_5scan_25uW -bg -chirp_conf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108960"/>
            <a:ext cx="3657600" cy="1828800"/>
          </a:xfrm>
          <a:prstGeom prst="rect">
            <a:avLst/>
          </a:prstGeom>
        </p:spPr>
      </p:pic>
      <p:pic>
        <p:nvPicPr>
          <p:cNvPr id="8" name="Picture 7" descr="pipeline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5029200"/>
            <a:ext cx="5312072" cy="1554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502920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</a:defRPr>
            </a:pPr>
            <a:r>
              <a:t>Future: Agentic AI (LLM + literature → model suggestion)</a:t>
            </a:r>
          </a:p>
          <a:p>
            <a:pPr>
              <a:defRPr sz="1000" b="0">
                <a:solidFill>
                  <a:srgbClr val="5D6D7E"/>
                </a:solidFill>
              </a:defRPr>
            </a:pPr>
            <a:r>
              <a:t>→ No training data, no sim-to-real gap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