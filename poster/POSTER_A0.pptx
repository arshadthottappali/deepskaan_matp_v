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66640" cy="4114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2834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Challenges in Interpreting Ultrafast Spectroscopy Data:</a:t>
            </a:r>
          </a:p>
          <a:p>
            <a:pPr algn="ctr">
              <a:defRPr sz="4800" b="1">
                <a:solidFill>
                  <a:srgbClr val="E67E22"/>
                </a:solidFill>
              </a:defRPr>
            </a:pPr>
            <a:r>
              <a:t>A Case for Machine Learning in Materials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2834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Muhammed Arshad Thottappali</a:t>
            </a:r>
          </a:p>
          <a:p>
            <a:pPr algn="ctr">
              <a:defRPr sz="2400" b="0">
                <a:solidFill>
                  <a:srgbClr val="AED6F1"/>
                </a:solidFill>
              </a:defRPr>
            </a:pPr>
            <a:r>
              <a:t>Institute of Macromolecular Chemistry, Czech Academy of Sciences, Prague</a:t>
            </a:r>
          </a:p>
          <a:p>
            <a:pPr algn="ctr">
              <a:defRPr sz="2000" b="0">
                <a:solidFill>
                  <a:srgbClr val="AED6F1"/>
                </a:solidFill>
              </a:defRPr>
            </a:pPr>
            <a:r>
              <a:t>ML4MatSci 2nd PhD Summer School  •  Sarajevo  •  June 10–12,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1403604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403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1. THE CHALLENGE: Ultrafast Spectroscopy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14036040" cy="4572000"/>
          </a:xfrm>
          <a:prstGeom prst="rect">
            <a:avLst/>
          </a:prstGeom>
          <a:solidFill>
            <a:srgbClr val="EBF5FB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4036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/>
            </a:pPr>
            <a:r>
              <a:t>Transient Absorption (TA) spectroscopy probes photo-induced</a:t>
            </a:r>
          </a:p>
          <a:p>
            <a:pPr algn="l">
              <a:defRPr sz="2000" b="0"/>
            </a:pPr>
            <a:r>
              <a:t>dynamics on femtosecond–nanosecond timescales.</a:t>
            </a:r>
          </a:p>
          <a:p>
            <a:pPr algn="l">
              <a:defRPr sz="1000" b="0"/>
            </a:pPr>
          </a:p>
          <a:p>
            <a:pPr algn="l">
              <a:defRPr sz="2200" b="1">
                <a:solidFill>
                  <a:srgbClr val="E74C3C"/>
                </a:solidFill>
              </a:defRPr>
            </a:pPr>
            <a:r>
              <a:t>Key Challenges:</a:t>
            </a:r>
          </a:p>
          <a:p>
            <a:pPr algn="l">
              <a:defRPr sz="1900" b="0"/>
            </a:pPr>
            <a:r>
              <a:t>•  Model ambiguity: many kinetic models fit the same data</a:t>
            </a:r>
          </a:p>
          <a:p>
            <a:pPr algn="l">
              <a:defRPr sz="1900" b="0"/>
            </a:pPr>
            <a:r>
              <a:t>•  Overlapping, broad excited-state spectral features</a:t>
            </a:r>
          </a:p>
          <a:p>
            <a:pPr algn="l">
              <a:defRPr sz="1900" b="0"/>
            </a:pPr>
            <a:r>
              <a:t>•  Expert bottleneck: manual model guessing takes hours</a:t>
            </a:r>
          </a:p>
          <a:p>
            <a:pPr algn="l">
              <a:defRPr sz="1900" b="0"/>
            </a:pPr>
            <a:r>
              <a:t>•  Subjective — different experts may choose different models</a:t>
            </a:r>
          </a:p>
          <a:p>
            <a:pPr algn="l">
              <a:defRPr sz="1000" b="0"/>
            </a:pPr>
          </a:p>
          <a:p>
            <a:pPr algn="l">
              <a:defRPr sz="2200" b="1">
                <a:solidFill>
                  <a:srgbClr val="1A5276"/>
                </a:solidFill>
              </a:defRPr>
            </a:pPr>
            <a:r>
              <a:t>Our System:</a:t>
            </a:r>
          </a:p>
          <a:p>
            <a:pPr algn="l">
              <a:defRPr sz="1900" b="0"/>
            </a:pPr>
            <a:r>
              <a:t>•  H/D-substituted porphyrin complex (CBK-H, CBK-D)</a:t>
            </a:r>
          </a:p>
          <a:p>
            <a:pPr algn="l">
              <a:defRPr sz="1900" b="0"/>
            </a:pPr>
            <a:r>
              <a:t>•  Excitation 476 nm, white-light continuum probe (430–800 nm)</a:t>
            </a:r>
          </a:p>
          <a:p>
            <a:pPr algn="l">
              <a:defRPr sz="1900" b="1"/>
            </a:pPr>
            <a:r>
              <a:t>•  Sequential relaxation: A → B → C → Ground State</a:t>
            </a:r>
          </a:p>
        </p:txBody>
      </p:sp>
      <p:pic>
        <p:nvPicPr>
          <p:cNvPr id="9" name="Picture 8" descr="ta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698480"/>
            <a:ext cx="13577359" cy="502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5499080" y="4572000"/>
            <a:ext cx="1403604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499080" y="4663440"/>
            <a:ext cx="1403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2. GLOBAL ANALYSIS: Forced Sequential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499080" y="5669280"/>
            <a:ext cx="14036040" cy="5029200"/>
          </a:xfrm>
          <a:prstGeom prst="rect">
            <a:avLst/>
          </a:prstGeom>
          <a:solidFill>
            <a:srgbClr val="D5F5E3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499080" y="5669280"/>
            <a:ext cx="14036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</a:defRPr>
            </a:pPr>
            <a:r>
              <a:t>Model: A → B → C → GS (3 exponentials + Gaussian IRF)</a:t>
            </a:r>
          </a:p>
          <a:p>
            <a:pPr algn="l">
              <a:defRPr sz="1800" b="0">
                <a:solidFill>
                  <a:srgbClr val="5D6D7E"/>
                </a:solidFill>
              </a:defRPr>
            </a:pPr>
            <a:r>
              <a:t>Method: Differential evolution + Levenberg-Marquardt polish</a:t>
            </a:r>
          </a:p>
          <a:p>
            <a:pPr algn="l">
              <a:defRPr sz="1000" b="0"/>
            </a:pPr>
          </a:p>
          <a:p>
            <a:pPr algn="l">
              <a:defRPr sz="2000" b="1">
                <a:solidFill>
                  <a:srgbClr val="27AE60"/>
                </a:solidFill>
              </a:defRPr>
            </a:pPr>
            <a:r>
              <a:t>Results (PINN, full 2D fit):</a:t>
            </a:r>
          </a:p>
          <a:p>
            <a:pPr algn="l">
              <a:defRPr sz="800" b="0"/>
            </a:pPr>
          </a:p>
          <a:p>
            <a:pPr algn="l">
              <a:defRPr sz="1800" b="0"/>
            </a:pPr>
            <a:r>
              <a:t>  Component     CBK-D        CBK-H        D/H Ratio</a:t>
            </a:r>
          </a:p>
          <a:p>
            <a:pPr algn="l">
              <a:defRPr sz="1800" b="0"/>
            </a:pPr>
            <a:r>
              <a:t>  ──────────────────────────────────────────────</a:t>
            </a:r>
          </a:p>
          <a:p>
            <a:pPr algn="l">
              <a:defRPr sz="1800" b="1"/>
            </a:pPr>
            <a:r>
              <a:t>  τ₁ (A→B)       9.6 ps       13.4 ps      0.72</a:t>
            </a:r>
          </a:p>
          <a:p>
            <a:pPr algn="l">
              <a:defRPr sz="1800" b="1"/>
            </a:pPr>
            <a:r>
              <a:t>  τ₂ (B→C)       92.6 ps      166.8 ps     0.56</a:t>
            </a:r>
          </a:p>
          <a:p>
            <a:pPr algn="l">
              <a:defRPr sz="1800" b="1"/>
            </a:pPr>
            <a:r>
              <a:t>  τ₃ (C→GS)      &gt;6 ns        &gt;6 ns        2.35</a:t>
            </a:r>
          </a:p>
          <a:p>
            <a:pPr algn="l">
              <a:defRPr sz="1000" b="0"/>
            </a:pPr>
          </a:p>
          <a:p>
            <a:pPr algn="l">
              <a:defRPr sz="2200" b="1">
                <a:solidFill>
                  <a:srgbClr val="E74C3C"/>
                </a:solidFill>
              </a:defRPr>
            </a:pPr>
            <a:r>
              <a:t>ANOMALOUS ISOTOPE EFFECT:</a:t>
            </a:r>
          </a:p>
          <a:p>
            <a:pPr algn="l">
              <a:defRPr sz="2000" b="1">
                <a:solidFill>
                  <a:srgbClr val="E74C3C"/>
                </a:solidFill>
              </a:defRPr>
            </a:pPr>
            <a:r>
              <a:t>τ₁, τ₂: Deuterium is FASTER (inverse KIE)</a:t>
            </a:r>
          </a:p>
          <a:p>
            <a:pPr algn="l">
              <a:defRPr sz="1800" b="0">
                <a:solidFill>
                  <a:srgbClr val="5D6D7E"/>
                </a:solidFill>
              </a:defRPr>
            </a:pPr>
            <a:r>
              <a:t>Expected: D should relax MORE SLOWLY</a:t>
            </a:r>
          </a:p>
          <a:p>
            <a:pPr algn="l">
              <a:defRPr sz="1800" b="0"/>
            </a:pPr>
            <a:r>
              <a:t>→ Suggests tunneling or vibrational mode coupling</a:t>
            </a:r>
          </a:p>
        </p:txBody>
      </p:sp>
      <p:pic>
        <p:nvPicPr>
          <p:cNvPr id="14" name="Picture 13" descr="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0" y="11155680"/>
            <a:ext cx="12130865" cy="4572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16002000"/>
            <a:ext cx="1403604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093440"/>
            <a:ext cx="1403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3. ML APPROACH: DeepSKAN (CNN Classification)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7099280"/>
            <a:ext cx="14036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</a:defRPr>
            </a:pPr>
            <a:r>
              <a:t>DeepSKAN (Kollenz et al., J. Phys. Chem. B, 2020)</a:t>
            </a:r>
          </a:p>
          <a:p>
            <a:pPr algn="l">
              <a:defRPr sz="1600" b="0">
                <a:solidFill>
                  <a:srgbClr val="5D6D7E"/>
                </a:solidFill>
              </a:defRPr>
            </a:pPr>
            <a:r>
              <a:t>DOI: 10.1021/acs.jpcb.0c04299</a:t>
            </a:r>
          </a:p>
          <a:p>
            <a:pPr algn="l">
              <a:defRPr sz="800" b="0"/>
            </a:pPr>
          </a:p>
          <a:p>
            <a:pPr algn="l">
              <a:defRPr sz="2000" b="1"/>
            </a:pPr>
            <a:r>
              <a:t>Core Idea:</a:t>
            </a:r>
          </a:p>
          <a:p>
            <a:pPr algn="l">
              <a:defRPr sz="1800" b="0"/>
            </a:pPr>
            <a:r>
              <a:t>Treat the 2D TA map as a grayscale IMAGE and use a</a:t>
            </a:r>
          </a:p>
          <a:p>
            <a:pPr algn="l">
              <a:defRPr sz="1800" b="0"/>
            </a:pPr>
            <a:r>
              <a:t>CNN (ResNet) to CLASSIFY the kinetic topology.</a:t>
            </a:r>
          </a:p>
          <a:p>
            <a:pPr algn="l">
              <a:defRPr sz="800" b="0"/>
            </a:pPr>
          </a:p>
          <a:p>
            <a:pPr algn="l">
              <a:defRPr sz="2000" b="1">
                <a:solidFill>
                  <a:srgbClr val="1A5276"/>
                </a:solidFill>
              </a:defRPr>
            </a:pPr>
            <a:r>
              <a:t>Our Implementation:</a:t>
            </a:r>
          </a:p>
          <a:p>
            <a:pPr algn="l">
              <a:defRPr sz="1800" b="0"/>
            </a:pPr>
            <a:r>
              <a:t>•  7-block ResNet + BatchNorm + Dropout</a:t>
            </a:r>
          </a:p>
          <a:p>
            <a:pPr algn="l">
              <a:defRPr sz="1800" b="0"/>
            </a:pPr>
            <a:r>
              <a:t>•  Input: 256×64 normalized TA map</a:t>
            </a:r>
          </a:p>
          <a:p>
            <a:pPr algn="l">
              <a:defRPr sz="1800" b="0"/>
            </a:pPr>
            <a:r>
              <a:t>•  Output: probability over 21 kinetic model classes</a:t>
            </a:r>
          </a:p>
          <a:p>
            <a:pPr algn="l">
              <a:defRPr sz="1800" b="0"/>
            </a:pPr>
            <a:r>
              <a:t>•  Trained on 100k synthetic physics-simulated samples</a:t>
            </a:r>
          </a:p>
          <a:p>
            <a:pPr algn="l">
              <a:defRPr sz="1800" b="0"/>
            </a:pPr>
            <a:r>
              <a:t>•  Validation accuracy: 72% (T4 GPU, 40 epochs)</a:t>
            </a:r>
          </a:p>
          <a:p>
            <a:pPr algn="l">
              <a:defRPr sz="800" b="0"/>
            </a:pPr>
          </a:p>
          <a:p>
            <a:pPr algn="l">
              <a:defRPr sz="2000" b="1"/>
            </a:pPr>
            <a:r>
              <a:t>Pipeline:</a:t>
            </a:r>
          </a:p>
          <a:p>
            <a:pPr algn="l">
              <a:defRPr sz="1800" b="1"/>
            </a:pPr>
            <a:r>
              <a:t>  TA map → CNN → topology class → GA/TA fitting → τ values</a:t>
            </a:r>
          </a:p>
        </p:txBody>
      </p:sp>
      <p:pic>
        <p:nvPicPr>
          <p:cNvPr id="18" name="Picture 17" descr="trai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585680"/>
            <a:ext cx="10986155" cy="4114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5499080" y="16002000"/>
            <a:ext cx="1403604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499080" y="16093440"/>
            <a:ext cx="1403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4. CNN PREDICTIONS ON REAL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99080" y="17099280"/>
            <a:ext cx="14036040" cy="3200400"/>
          </a:xfrm>
          <a:prstGeom prst="rect">
            <a:avLst/>
          </a:prstGeom>
          <a:solidFill>
            <a:srgbClr val="FADBD8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499080" y="17099280"/>
            <a:ext cx="1403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276"/>
                </a:solidFill>
              </a:defRPr>
            </a:pPr>
            <a:r>
              <a:t>Predictions:</a:t>
            </a:r>
          </a:p>
          <a:p>
            <a:pPr algn="l">
              <a:defRPr sz="800" b="0"/>
            </a:pPr>
          </a:p>
          <a:p>
            <a:pPr algn="l">
              <a:defRPr sz="2000" b="1">
                <a:solidFill>
                  <a:srgbClr val="27AE60"/>
                </a:solidFill>
              </a:defRPr>
            </a:pPr>
            <a:r>
              <a:t>  CBK-H: Class 6 (A→B→C, sequential)</a:t>
            </a:r>
          </a:p>
          <a:p>
            <a:pPr algn="l">
              <a:defRPr sz="1800" b="0">
                <a:solidFill>
                  <a:srgbClr val="27AE60"/>
                </a:solidFill>
              </a:defRPr>
            </a:pPr>
            <a:r>
              <a:t>          Confidence: 59% — CLOSE to correct!</a:t>
            </a:r>
          </a:p>
          <a:p>
            <a:pPr algn="l">
              <a:defRPr sz="800" b="0"/>
            </a:pPr>
          </a:p>
          <a:p>
            <a:pPr algn="l">
              <a:defRPr sz="2000" b="1">
                <a:solidFill>
                  <a:srgbClr val="E74C3C"/>
                </a:solidFill>
              </a:defRPr>
            </a:pPr>
            <a:r>
              <a:t>  CBK-D: Class 19 (branching: A→B, A→C, B→C, B→D)</a:t>
            </a:r>
          </a:p>
          <a:p>
            <a:pPr algn="l">
              <a:defRPr sz="1800" b="0">
                <a:solidFill>
                  <a:srgbClr val="E74C3C"/>
                </a:solidFill>
              </a:defRPr>
            </a:pPr>
            <a:r>
              <a:t>          Confidence: 40% — WRONG (we know it's sequential)</a:t>
            </a:r>
          </a:p>
          <a:p>
            <a:pPr algn="l">
              <a:defRPr sz="800" b="0"/>
            </a:pPr>
          </a:p>
          <a:p>
            <a:pPr algn="l">
              <a:defRPr sz="1800" b="0"/>
            </a:pPr>
            <a:r>
              <a:t>Automated GA with CNN-predicted model:</a:t>
            </a:r>
          </a:p>
          <a:p>
            <a:pPr algn="l">
              <a:defRPr sz="2000" b="1">
                <a:solidFill>
                  <a:srgbClr val="E74C3C"/>
                </a:solidFill>
              </a:defRPr>
            </a:pPr>
            <a:r>
              <a:t>  τ₁ = 0.1 ps, τ₂ = 0.0 ps  ← NONSENSICAL</a:t>
            </a:r>
          </a:p>
        </p:txBody>
      </p:sp>
      <p:pic>
        <p:nvPicPr>
          <p:cNvPr id="23" name="Picture 22" descr="CBK-D_373NAnEn_newdepo0614_sample_NAnEn_SaphWLC_476nm_Avg2_5scan_25uW -bg -chirp_conf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9080" y="20756880"/>
            <a:ext cx="7315200" cy="3657600"/>
          </a:xfrm>
          <a:prstGeom prst="rect">
            <a:avLst/>
          </a:prstGeom>
        </p:spPr>
      </p:pic>
      <p:pic>
        <p:nvPicPr>
          <p:cNvPr id="24" name="Picture 23" descr="CBK-H_232NAnEn_newdepo0614_sample_NAnEn_SaphWLC_476nm_Avg2_5scan_25uW -bg -chirp_confid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9080" y="24688800"/>
            <a:ext cx="7315200" cy="3657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1520" y="27889200"/>
            <a:ext cx="288036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7980640"/>
            <a:ext cx="2880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5. WHY DID THE CNN FAIL? — The Sim-to-Real 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8986480"/>
            <a:ext cx="13716000" cy="4572000"/>
          </a:xfrm>
          <a:prstGeom prst="rect">
            <a:avLst/>
          </a:prstGeom>
          <a:solidFill>
            <a:srgbClr val="FCF3CF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8986480"/>
            <a:ext cx="1371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Root Causes:</a:t>
            </a:r>
          </a:p>
          <a:p>
            <a:pPr algn="l">
              <a:defRPr sz="800" b="0"/>
            </a:pPr>
          </a:p>
          <a:p>
            <a:pPr algn="l">
              <a:defRPr sz="1900" b="0"/>
            </a:pPr>
            <a:r>
              <a:t>1. Synthetic training spectra (random Gaussians) ≠ real molecular spectra</a:t>
            </a:r>
          </a:p>
          <a:p>
            <a:pPr algn="l">
              <a:defRPr sz="1900" b="0"/>
            </a:pPr>
            <a:r>
              <a:t>2. Preprocessing (normalize to 256×64) destroyed time-scale information</a:t>
            </a:r>
          </a:p>
          <a:p>
            <a:pPr algn="l">
              <a:defRPr sz="1900" b="0"/>
            </a:pPr>
            <a:r>
              <a:t>3. Classification → wrong model → GA fitting collapses to τ=0</a:t>
            </a:r>
          </a:p>
          <a:p>
            <a:pPr algn="l">
              <a:defRPr sz="1900" b="0"/>
            </a:pPr>
            <a:r>
              <a:t>4. Low confidence (40%) correctly flags uncertainty — a feature, not a bug</a:t>
            </a:r>
          </a:p>
          <a:p>
            <a:pPr algn="l">
              <a:defRPr sz="1000" b="0"/>
            </a:pPr>
          </a:p>
          <a:p>
            <a:pPr algn="l">
              <a:defRPr sz="2200" b="1">
                <a:solidFill>
                  <a:srgbClr val="27AE60"/>
                </a:solidFill>
              </a:defRPr>
            </a:pPr>
            <a:r>
              <a:t>What Would Fix It:</a:t>
            </a:r>
          </a:p>
          <a:p>
            <a:pPr algn="l">
              <a:defRPr sz="800" b="0"/>
            </a:pPr>
          </a:p>
          <a:p>
            <a:pPr algn="l">
              <a:defRPr sz="1900" b="0"/>
            </a:pPr>
            <a:r>
              <a:t>•  Train on realistic spectra (from SVD of real data) — tested, works!</a:t>
            </a:r>
          </a:p>
          <a:p>
            <a:pPr algn="l">
              <a:defRPr sz="1900" b="0"/>
            </a:pPr>
            <a:r>
              <a:t>•  Regression (predict τ directly) instead of classification</a:t>
            </a:r>
          </a:p>
          <a:p>
            <a:pPr algn="l">
              <a:defRPr sz="1900" b="0"/>
            </a:pPr>
            <a:r>
              <a:t>•  Physics-informed approach (PINN) — embed ODEs in the loss function</a:t>
            </a:r>
          </a:p>
          <a:p>
            <a:pPr algn="l">
              <a:defRPr sz="1900" b="0"/>
            </a:pPr>
            <a:r>
              <a:t>•  Agentic AI: LLM reads literature → proposes model → fits data</a:t>
            </a:r>
          </a:p>
        </p:txBody>
      </p:sp>
      <p:pic>
        <p:nvPicPr>
          <p:cNvPr id="29" name="Picture 28" descr="comparison_ta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99080" y="28986480"/>
            <a:ext cx="11770732" cy="4572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1520" y="33832800"/>
            <a:ext cx="288036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924240"/>
            <a:ext cx="2880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6. CONCLUSIONS + FUTURE DIRECTIONS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93008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ML IS Useful For:</a:t>
            </a:r>
          </a:p>
          <a:p>
            <a:pPr algn="l">
              <a:defRPr sz="1900" b="0"/>
            </a:pPr>
            <a:r>
              <a:t>✓  Automated screening of many samples (combinatorial libraries)</a:t>
            </a:r>
          </a:p>
          <a:p>
            <a:pPr algn="l">
              <a:defRPr sz="1900" b="0"/>
            </a:pPr>
            <a:r>
              <a:t>✓  First-pass model suggestion when no prior knowledge exists</a:t>
            </a:r>
          </a:p>
          <a:p>
            <a:pPr algn="l">
              <a:defRPr sz="1900" b="0"/>
            </a:pPr>
            <a:r>
              <a:t>✓  Flagging unusual/unexpected kinetics</a:t>
            </a:r>
          </a:p>
          <a:p>
            <a:pPr algn="l">
              <a:defRPr sz="1900" b="0"/>
            </a:pPr>
            <a:r>
              <a:t>✓  Reducing human bias in model selection</a:t>
            </a:r>
          </a:p>
          <a:p>
            <a:pPr algn="l">
              <a:defRPr sz="1000" b="0"/>
            </a:pPr>
          </a:p>
          <a:p>
            <a:pPr algn="l">
              <a:defRPr sz="2200" b="1">
                <a:solidFill>
                  <a:srgbClr val="E74C3C"/>
                </a:solidFill>
              </a:defRPr>
            </a:pPr>
            <a:r>
              <a:t>ML is NOT (yet) a Replacement For:</a:t>
            </a:r>
          </a:p>
          <a:p>
            <a:pPr algn="l">
              <a:defRPr sz="1900" b="0"/>
            </a:pPr>
            <a:r>
              <a:t>✗  Quantitative parameter extraction (when model is known)</a:t>
            </a:r>
          </a:p>
          <a:p>
            <a:pPr algn="l">
              <a:defRPr sz="1900" b="0"/>
            </a:pPr>
            <a:r>
              <a:t>✗  Systems with strong sim-to-real gap</a:t>
            </a:r>
          </a:p>
          <a:p>
            <a:pPr algn="l">
              <a:defRPr sz="1900" b="0"/>
            </a:pPr>
            <a:r>
              <a:t>✗  Low-confidence predictions without expert validation</a:t>
            </a:r>
          </a:p>
          <a:p>
            <a:pPr algn="l">
              <a:defRPr sz="1000" b="0"/>
            </a:pPr>
          </a:p>
          <a:p>
            <a:pPr algn="l">
              <a:defRPr sz="2400" b="1">
                <a:solidFill>
                  <a:srgbClr val="E67E22"/>
                </a:solidFill>
              </a:defRPr>
            </a:pPr>
            <a:r>
              <a:t>FUTURE: Agentic AI for Spectroscopy</a:t>
            </a:r>
          </a:p>
          <a:p>
            <a:pPr algn="l">
              <a:defRPr sz="1900" b="0"/>
            </a:pPr>
            <a:r>
              <a:t>•  LLM agent reads molecular structure + published literature</a:t>
            </a:r>
          </a:p>
          <a:p>
            <a:pPr algn="l">
              <a:defRPr sz="1900" b="0"/>
            </a:pPr>
            <a:r>
              <a:t>•  Proposes kinetic model with chemical assignments</a:t>
            </a:r>
          </a:p>
          <a:p>
            <a:pPr algn="l">
              <a:defRPr sz="1900" b="0"/>
            </a:pPr>
            <a:r>
              <a:t>•  Fits data with physics-constrained method (PINN)</a:t>
            </a:r>
          </a:p>
          <a:p>
            <a:pPr algn="l">
              <a:defRPr sz="1900" b="0"/>
            </a:pPr>
            <a:r>
              <a:t>•  No training data needed, no sim-to-real gap</a:t>
            </a:r>
          </a:p>
          <a:p>
            <a:pPr algn="l">
              <a:defRPr sz="1900" b="0"/>
            </a:pPr>
            <a:r>
              <a:t>•  Combines domain expertise with automated fitting</a:t>
            </a:r>
          </a:p>
        </p:txBody>
      </p:sp>
      <p:pic>
        <p:nvPicPr>
          <p:cNvPr id="33" name="Picture 32" descr="PINN_isotope_effect_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99080" y="34930080"/>
            <a:ext cx="8122904" cy="50292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0233600"/>
            <a:ext cx="30266640" cy="25603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507920"/>
            <a:ext cx="2834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References:</a:t>
            </a:r>
          </a:p>
          <a:p>
            <a:pPr algn="l">
              <a:defRPr sz="1600" b="0">
                <a:solidFill>
                  <a:srgbClr val="AED6F1"/>
                </a:solidFill>
              </a:defRPr>
            </a:pPr>
            <a:r>
              <a:t>• Kollenz et al., J. Phys. Chem. B (2020) — DeepSKAN original     • van Stokkum et al., BBA (2004) — Global/Target Analysis</a:t>
            </a:r>
          </a:p>
          <a:p>
            <a:pPr algn="l">
              <a:defRPr sz="800" b="0"/>
            </a:pPr>
          </a:p>
          <a:p>
            <a:pPr algn="l">
              <a:defRPr sz="1600" b="0">
                <a:solidFill>
                  <a:srgbClr val="AED6F1"/>
                </a:solidFill>
              </a:defRPr>
            </a:pPr>
            <a:r>
              <a:t>Tools: Python, PyTorch 2.x, SciPy, Lightning.ai (T4 GPU)          Contact: arshad@imc.cas.cz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