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30279975" cy="42808525"/>
  <p:notesSz cx="6858000" cy="9144000"/>
  <p:defaultTextStyle>
    <a:defPPr>
      <a:defRPr lang="cs-CZ"/>
    </a:defPPr>
    <a:lvl1pPr marL="0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1pPr>
    <a:lvl2pPr marL="2086517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2pPr>
    <a:lvl3pPr marL="4173047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3pPr>
    <a:lvl4pPr marL="6259564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4pPr>
    <a:lvl5pPr marL="8346084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5pPr>
    <a:lvl6pPr marL="10432610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6pPr>
    <a:lvl7pPr marL="12519130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7pPr>
    <a:lvl8pPr marL="14605644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8pPr>
    <a:lvl9pPr marL="16692171" algn="l" defTabSz="4173047" rtl="0" eaLnBrk="1" latinLnBrk="0" hangingPunct="1">
      <a:defRPr sz="81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3" userDrawn="1">
          <p15:clr>
            <a:srgbClr val="A4A3A4"/>
          </p15:clr>
        </p15:guide>
        <p15:guide id="2" pos="95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0"/>
    <a:srgbClr val="F47732"/>
    <a:srgbClr val="004454"/>
    <a:srgbClr val="F5750B"/>
    <a:srgbClr val="F7964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570" autoAdjust="0"/>
  </p:normalViewPr>
  <p:slideViewPr>
    <p:cSldViewPr>
      <p:cViewPr>
        <p:scale>
          <a:sx n="50" d="100"/>
          <a:sy n="50" d="100"/>
        </p:scale>
        <p:origin x="-150" y="-8976"/>
      </p:cViewPr>
      <p:guideLst>
        <p:guide orient="horz" pos="13483"/>
        <p:guide pos="95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34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03176-D503-4AAD-B9F2-AEA45D4F4FF7}" type="datetimeFigureOut">
              <a:rPr lang="cs-CZ" smtClean="0"/>
              <a:pPr/>
              <a:t>07.06.2026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7E7FD-6AD9-4788-A6B0-2E6D59023DAE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147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0792F-C2AC-41D7-8F3A-1E8B9FC8A425}" type="datetimeFigureOut">
              <a:rPr lang="cs-CZ" smtClean="0"/>
              <a:pPr/>
              <a:t>07.06.2026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9B4F2-17FF-49FE-94B2-18791BE33AB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8532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1pPr>
    <a:lvl2pPr marL="2086517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2pPr>
    <a:lvl3pPr marL="4173047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3pPr>
    <a:lvl4pPr marL="6259564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4pPr>
    <a:lvl5pPr marL="8346084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5pPr>
    <a:lvl6pPr marL="10432610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6pPr>
    <a:lvl7pPr marL="12519130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7pPr>
    <a:lvl8pPr marL="14605644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8pPr>
    <a:lvl9pPr marL="16692171" algn="l" defTabSz="4173047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B – lišty s nadpisy bez předlohy (vše je přímo ve snímku, lépe se chová při změně formátu posteru)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9B4F2-17FF-49FE-94B2-18791BE33AB0}" type="slidenum">
              <a:rPr lang="cs-CZ" smtClean="0"/>
              <a:pPr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106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z předlo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04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- Panely s rámečke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ástupný symbol pro text 6"/>
          <p:cNvSpPr>
            <a:spLocks noGrp="1"/>
          </p:cNvSpPr>
          <p:nvPr>
            <p:ph type="body" sz="quarter" idx="28" hasCustomPrompt="1"/>
          </p:nvPr>
        </p:nvSpPr>
        <p:spPr>
          <a:xfrm>
            <a:off x="995275" y="15068702"/>
            <a:ext cx="13495104" cy="5184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cs-CZ" sz="3200" b="1" kern="1200" dirty="0" smtClean="0">
                <a:solidFill>
                  <a:srgbClr val="005C70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482"/>
              </a:spcBef>
              <a:buNone/>
              <a:defRPr lang="cs-CZ" sz="22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72717" indent="-172717">
              <a:defRPr lang="cs-CZ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63428" indent="-190708">
              <a:spcBef>
                <a:spcPts val="482"/>
              </a:spcBef>
              <a:defRPr lang="cs-CZ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532541" indent="-172717">
              <a:spcBef>
                <a:spcPts val="385"/>
              </a:spcBef>
              <a:defRPr lang="cs-CZ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cs-CZ" dirty="0" err="1"/>
              <a:t>Title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32" name="Zástupný symbol pro obrázek 8"/>
          <p:cNvSpPr>
            <a:spLocks noGrp="1"/>
          </p:cNvSpPr>
          <p:nvPr>
            <p:ph type="pic" sz="quarter" idx="29"/>
          </p:nvPr>
        </p:nvSpPr>
        <p:spPr>
          <a:xfrm>
            <a:off x="1593251" y="20796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3" name="Zástupný symbol pro graf 11"/>
          <p:cNvSpPr>
            <a:spLocks noGrp="1"/>
          </p:cNvSpPr>
          <p:nvPr>
            <p:ph type="chart" sz="quarter" idx="30"/>
          </p:nvPr>
        </p:nvSpPr>
        <p:spPr>
          <a:xfrm>
            <a:off x="8139073" y="20796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6" name="Zástupný symbol pro tabulku 13"/>
          <p:cNvSpPr>
            <a:spLocks noGrp="1"/>
          </p:cNvSpPr>
          <p:nvPr>
            <p:ph type="tbl" sz="quarter" idx="31"/>
          </p:nvPr>
        </p:nvSpPr>
        <p:spPr>
          <a:xfrm>
            <a:off x="1566777" y="26047751"/>
            <a:ext cx="12358772" cy="5357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7" name="Zástupný symbol pro text 2"/>
          <p:cNvSpPr>
            <a:spLocks noGrp="1"/>
          </p:cNvSpPr>
          <p:nvPr>
            <p:ph type="body" sz="quarter" idx="32" hasCustomPrompt="1"/>
          </p:nvPr>
        </p:nvSpPr>
        <p:spPr>
          <a:xfrm>
            <a:off x="954263" y="33191551"/>
            <a:ext cx="28371600" cy="5131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5C70"/>
                </a:solidFill>
              </a:defRPr>
            </a:lvl1pPr>
            <a:lvl2pPr marL="0" indent="0">
              <a:buNone/>
              <a:defRPr sz="2200"/>
            </a:lvl2pPr>
            <a:lvl3pPr marL="172717" indent="-172717">
              <a:defRPr sz="2000"/>
            </a:lvl3pPr>
            <a:lvl4pPr marL="363428" indent="-190708">
              <a:spcBef>
                <a:spcPts val="482"/>
              </a:spcBef>
              <a:defRPr sz="2000"/>
            </a:lvl4pPr>
            <a:lvl5pPr marL="532541" indent="-172717">
              <a:spcBef>
                <a:spcPts val="385"/>
              </a:spcBef>
              <a:defRPr sz="2000"/>
            </a:lvl5pPr>
          </a:lstStyle>
          <a:p>
            <a:pPr lvl="0"/>
            <a:r>
              <a:rPr lang="cs-CZ" dirty="0" err="1"/>
              <a:t>Results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38" name="Zástupný symbol pro text 2"/>
          <p:cNvSpPr>
            <a:spLocks noGrp="1"/>
          </p:cNvSpPr>
          <p:nvPr>
            <p:ph type="body" sz="quarter" idx="33" hasCustomPrompt="1"/>
          </p:nvPr>
        </p:nvSpPr>
        <p:spPr>
          <a:xfrm>
            <a:off x="954206" y="39550288"/>
            <a:ext cx="28371600" cy="157087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0" indent="0">
              <a:buNone/>
              <a:defRPr sz="2200">
                <a:solidFill>
                  <a:schemeClr val="tx1"/>
                </a:solidFill>
              </a:defRPr>
            </a:lvl2pPr>
            <a:lvl3pPr marL="172717" indent="-172717">
              <a:defRPr sz="2001"/>
            </a:lvl3pPr>
            <a:lvl4pPr marL="363428" indent="-190708">
              <a:spcBef>
                <a:spcPts val="482"/>
              </a:spcBef>
              <a:defRPr sz="2001"/>
            </a:lvl4pPr>
            <a:lvl5pPr marL="532541" indent="-172717">
              <a:spcBef>
                <a:spcPts val="385"/>
              </a:spcBef>
              <a:defRPr sz="1598"/>
            </a:lvl5pPr>
          </a:lstStyle>
          <a:p>
            <a:pPr lvl="0"/>
            <a:r>
              <a:rPr lang="cs-CZ" dirty="0" err="1"/>
              <a:t>Acknowledgements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40" name="Zástupný symbol pro text 6"/>
          <p:cNvSpPr>
            <a:spLocks noGrp="1"/>
          </p:cNvSpPr>
          <p:nvPr>
            <p:ph type="body" sz="quarter" idx="34" hasCustomPrompt="1"/>
          </p:nvPr>
        </p:nvSpPr>
        <p:spPr>
          <a:xfrm>
            <a:off x="15789598" y="15068702"/>
            <a:ext cx="13495128" cy="5184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cs-CZ" sz="32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482"/>
              </a:spcBef>
              <a:buNone/>
              <a:defRPr lang="cs-CZ" sz="22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72717" indent="-172717">
              <a:buClr>
                <a:srgbClr val="F47732"/>
              </a:buClr>
              <a:defRPr lang="cs-CZ" sz="20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63428" indent="-190708">
              <a:spcBef>
                <a:spcPts val="482"/>
              </a:spcBef>
              <a:buClr>
                <a:srgbClr val="F47732"/>
              </a:buClr>
              <a:defRPr lang="cs-CZ" sz="20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532541" indent="-172717">
              <a:spcBef>
                <a:spcPts val="385"/>
              </a:spcBef>
              <a:buClr>
                <a:srgbClr val="F47732"/>
              </a:buClr>
              <a:defRPr lang="cs-CZ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cs-CZ" dirty="0" err="1"/>
              <a:t>Title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1" name="Zástupný symbol pro obrázek 8"/>
          <p:cNvSpPr>
            <a:spLocks noGrp="1"/>
          </p:cNvSpPr>
          <p:nvPr>
            <p:ph type="pic" sz="quarter" idx="35"/>
          </p:nvPr>
        </p:nvSpPr>
        <p:spPr>
          <a:xfrm>
            <a:off x="16490368" y="20830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42" name="Zástupný symbol pro graf 11"/>
          <p:cNvSpPr>
            <a:spLocks noGrp="1"/>
          </p:cNvSpPr>
          <p:nvPr>
            <p:ph type="chart" sz="quarter" idx="36"/>
          </p:nvPr>
        </p:nvSpPr>
        <p:spPr>
          <a:xfrm>
            <a:off x="23036188" y="20830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43" name="Zástupný symbol pro tabulku 13"/>
          <p:cNvSpPr>
            <a:spLocks noGrp="1"/>
          </p:cNvSpPr>
          <p:nvPr>
            <p:ph type="tbl" sz="quarter" idx="37"/>
          </p:nvPr>
        </p:nvSpPr>
        <p:spPr>
          <a:xfrm>
            <a:off x="16497323" y="26084285"/>
            <a:ext cx="12358772" cy="5357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62" name="Zástupný symbol pro text 24"/>
          <p:cNvSpPr>
            <a:spLocks noGrp="1"/>
          </p:cNvSpPr>
          <p:nvPr>
            <p:ph type="body" sz="quarter" idx="21" hasCustomPrompt="1"/>
          </p:nvPr>
        </p:nvSpPr>
        <p:spPr>
          <a:xfrm>
            <a:off x="4209979" y="615958"/>
            <a:ext cx="20574144" cy="20634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7997" b="1" baseline="0">
                <a:solidFill>
                  <a:srgbClr val="004454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cs-CZ" dirty="0"/>
              <a:t>Poster </a:t>
            </a:r>
            <a:r>
              <a:rPr lang="cs-CZ" dirty="0" err="1"/>
              <a:t>Title</a:t>
            </a:r>
            <a:r>
              <a:rPr lang="cs-CZ" dirty="0"/>
              <a:t> Enter </a:t>
            </a:r>
            <a:r>
              <a:rPr lang="cs-CZ" dirty="0" err="1"/>
              <a:t>Here</a:t>
            </a:r>
            <a:r>
              <a:rPr lang="cs-CZ" dirty="0"/>
              <a:t> </a:t>
            </a:r>
          </a:p>
        </p:txBody>
      </p:sp>
      <p:sp>
        <p:nvSpPr>
          <p:cNvPr id="63" name="Zástupný symbol pro text 24"/>
          <p:cNvSpPr>
            <a:spLocks noGrp="1"/>
          </p:cNvSpPr>
          <p:nvPr>
            <p:ph type="body" sz="quarter" idx="22" hasCustomPrompt="1"/>
          </p:nvPr>
        </p:nvSpPr>
        <p:spPr>
          <a:xfrm>
            <a:off x="4209979" y="2679424"/>
            <a:ext cx="20574144" cy="7228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44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 dirty="0"/>
              <a:t>Authors</a:t>
            </a:r>
          </a:p>
        </p:txBody>
      </p:sp>
      <p:sp>
        <p:nvSpPr>
          <p:cNvPr id="64" name="Zástupný symbol pro text 24"/>
          <p:cNvSpPr>
            <a:spLocks noGrp="1"/>
          </p:cNvSpPr>
          <p:nvPr>
            <p:ph type="body" sz="quarter" idx="23" hasCustomPrompt="1"/>
          </p:nvPr>
        </p:nvSpPr>
        <p:spPr>
          <a:xfrm>
            <a:off x="4209979" y="3401916"/>
            <a:ext cx="20574144" cy="172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 err="1"/>
              <a:t>Institutions</a:t>
            </a:r>
            <a:r>
              <a:rPr lang="cs-CZ" dirty="0"/>
              <a:t> involved</a:t>
            </a:r>
          </a:p>
        </p:txBody>
      </p:sp>
      <p:sp>
        <p:nvSpPr>
          <p:cNvPr id="69" name="Zástupný symbol pro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954102" y="6641785"/>
            <a:ext cx="28371477" cy="69856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5C70"/>
                </a:solidFill>
              </a:defRPr>
            </a:lvl1pPr>
            <a:lvl2pPr marL="0" indent="0">
              <a:buNone/>
              <a:defRPr sz="2200"/>
            </a:lvl2pPr>
            <a:lvl3pPr marL="172717" indent="-172717">
              <a:defRPr sz="2001"/>
            </a:lvl3pPr>
            <a:lvl4pPr marL="363428" indent="-190708">
              <a:spcBef>
                <a:spcPts val="482"/>
              </a:spcBef>
              <a:defRPr sz="2001"/>
            </a:lvl4pPr>
            <a:lvl5pPr marL="532541" indent="-172717">
              <a:spcBef>
                <a:spcPts val="385"/>
              </a:spcBef>
              <a:defRPr sz="2000"/>
            </a:lvl5pPr>
          </a:lstStyle>
          <a:p>
            <a:pPr lvl="0"/>
            <a:r>
              <a:rPr lang="cs-CZ" dirty="0" err="1"/>
              <a:t>Introduction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- Panely s rámečkem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ástupný symbol pro text 6"/>
          <p:cNvSpPr>
            <a:spLocks noGrp="1"/>
          </p:cNvSpPr>
          <p:nvPr>
            <p:ph type="body" sz="quarter" idx="28" hasCustomPrompt="1"/>
          </p:nvPr>
        </p:nvSpPr>
        <p:spPr>
          <a:xfrm>
            <a:off x="995275" y="15068702"/>
            <a:ext cx="13495104" cy="5184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cs-CZ" sz="3200" b="1" kern="1200" dirty="0" smtClean="0">
                <a:solidFill>
                  <a:srgbClr val="005C70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482"/>
              </a:spcBef>
              <a:buNone/>
              <a:defRPr lang="cs-CZ" sz="22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72717" indent="-172717">
              <a:defRPr lang="cs-CZ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63428" indent="-190708">
              <a:spcBef>
                <a:spcPts val="482"/>
              </a:spcBef>
              <a:defRPr lang="cs-CZ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532541" indent="-172717">
              <a:spcBef>
                <a:spcPts val="385"/>
              </a:spcBef>
              <a:defRPr lang="cs-CZ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cs-CZ" dirty="0" err="1"/>
              <a:t>Title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32" name="Zástupný symbol pro obrázek 8"/>
          <p:cNvSpPr>
            <a:spLocks noGrp="1"/>
          </p:cNvSpPr>
          <p:nvPr>
            <p:ph type="pic" sz="quarter" idx="29"/>
          </p:nvPr>
        </p:nvSpPr>
        <p:spPr>
          <a:xfrm>
            <a:off x="1593251" y="20796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3" name="Zástupný symbol pro graf 11"/>
          <p:cNvSpPr>
            <a:spLocks noGrp="1"/>
          </p:cNvSpPr>
          <p:nvPr>
            <p:ph type="chart" sz="quarter" idx="30"/>
          </p:nvPr>
        </p:nvSpPr>
        <p:spPr>
          <a:xfrm>
            <a:off x="8139073" y="20796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6" name="Zástupný symbol pro tabulku 13"/>
          <p:cNvSpPr>
            <a:spLocks noGrp="1"/>
          </p:cNvSpPr>
          <p:nvPr>
            <p:ph type="tbl" sz="quarter" idx="31"/>
          </p:nvPr>
        </p:nvSpPr>
        <p:spPr>
          <a:xfrm>
            <a:off x="1566777" y="26047751"/>
            <a:ext cx="12358772" cy="5357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7" name="Zástupný symbol pro text 2"/>
          <p:cNvSpPr>
            <a:spLocks noGrp="1"/>
          </p:cNvSpPr>
          <p:nvPr>
            <p:ph type="body" sz="quarter" idx="32" hasCustomPrompt="1"/>
          </p:nvPr>
        </p:nvSpPr>
        <p:spPr>
          <a:xfrm>
            <a:off x="954263" y="33191551"/>
            <a:ext cx="28371600" cy="5131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5C70"/>
                </a:solidFill>
              </a:defRPr>
            </a:lvl1pPr>
            <a:lvl2pPr marL="0" indent="0">
              <a:buNone/>
              <a:defRPr sz="2200"/>
            </a:lvl2pPr>
            <a:lvl3pPr marL="172717" indent="-172717">
              <a:defRPr sz="2000"/>
            </a:lvl3pPr>
            <a:lvl4pPr marL="363428" indent="-190708">
              <a:spcBef>
                <a:spcPts val="482"/>
              </a:spcBef>
              <a:defRPr sz="2000"/>
            </a:lvl4pPr>
            <a:lvl5pPr marL="532541" indent="-172717">
              <a:spcBef>
                <a:spcPts val="385"/>
              </a:spcBef>
              <a:defRPr sz="2000"/>
            </a:lvl5pPr>
          </a:lstStyle>
          <a:p>
            <a:pPr lvl="0"/>
            <a:r>
              <a:rPr lang="cs-CZ" dirty="0" err="1"/>
              <a:t>Results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38" name="Zástupný symbol pro text 2"/>
          <p:cNvSpPr>
            <a:spLocks noGrp="1"/>
          </p:cNvSpPr>
          <p:nvPr>
            <p:ph type="body" sz="quarter" idx="33" hasCustomPrompt="1"/>
          </p:nvPr>
        </p:nvSpPr>
        <p:spPr>
          <a:xfrm>
            <a:off x="954206" y="39550288"/>
            <a:ext cx="28371600" cy="157087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3200" b="1">
                <a:solidFill>
                  <a:srgbClr val="005C70"/>
                </a:solidFill>
              </a:defRPr>
            </a:lvl1pPr>
            <a:lvl2pPr marL="0" indent="0">
              <a:buNone/>
              <a:defRPr sz="2200">
                <a:solidFill>
                  <a:schemeClr val="tx1"/>
                </a:solidFill>
              </a:defRPr>
            </a:lvl2pPr>
            <a:lvl3pPr marL="172717" indent="-172717">
              <a:defRPr sz="2001"/>
            </a:lvl3pPr>
            <a:lvl4pPr marL="363428" indent="-190708">
              <a:spcBef>
                <a:spcPts val="482"/>
              </a:spcBef>
              <a:defRPr sz="2001"/>
            </a:lvl4pPr>
            <a:lvl5pPr marL="532541" indent="-172717">
              <a:spcBef>
                <a:spcPts val="385"/>
              </a:spcBef>
              <a:defRPr sz="1598"/>
            </a:lvl5pPr>
          </a:lstStyle>
          <a:p>
            <a:pPr lvl="0"/>
            <a:r>
              <a:rPr lang="cs-CZ" dirty="0" err="1"/>
              <a:t>Acknowledgements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40" name="Zástupný symbol pro text 6"/>
          <p:cNvSpPr>
            <a:spLocks noGrp="1"/>
          </p:cNvSpPr>
          <p:nvPr>
            <p:ph type="body" sz="quarter" idx="34" hasCustomPrompt="1"/>
          </p:nvPr>
        </p:nvSpPr>
        <p:spPr>
          <a:xfrm>
            <a:off x="15789598" y="15068702"/>
            <a:ext cx="13495128" cy="5184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cs-CZ" sz="32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482"/>
              </a:spcBef>
              <a:buNone/>
              <a:defRPr lang="cs-CZ" sz="22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72717" indent="-172717">
              <a:buClr>
                <a:srgbClr val="F47732"/>
              </a:buClr>
              <a:defRPr lang="cs-CZ" sz="20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63428" indent="-190708">
              <a:spcBef>
                <a:spcPts val="482"/>
              </a:spcBef>
              <a:buClr>
                <a:srgbClr val="F47732"/>
              </a:buClr>
              <a:defRPr lang="cs-CZ" sz="20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532541" indent="-172717">
              <a:spcBef>
                <a:spcPts val="385"/>
              </a:spcBef>
              <a:buClr>
                <a:srgbClr val="F47732"/>
              </a:buClr>
              <a:defRPr lang="cs-CZ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cs-CZ" dirty="0" err="1"/>
              <a:t>Title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1" name="Zástupný symbol pro obrázek 8"/>
          <p:cNvSpPr>
            <a:spLocks noGrp="1"/>
          </p:cNvSpPr>
          <p:nvPr>
            <p:ph type="pic" sz="quarter" idx="35"/>
          </p:nvPr>
        </p:nvSpPr>
        <p:spPr>
          <a:xfrm>
            <a:off x="16523793" y="20832772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42" name="Zástupný symbol pro graf 11"/>
          <p:cNvSpPr>
            <a:spLocks noGrp="1"/>
          </p:cNvSpPr>
          <p:nvPr>
            <p:ph type="chart" sz="quarter" idx="36"/>
          </p:nvPr>
        </p:nvSpPr>
        <p:spPr>
          <a:xfrm>
            <a:off x="23069613" y="20832772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43" name="Zástupný symbol pro tabulku 13"/>
          <p:cNvSpPr>
            <a:spLocks noGrp="1"/>
          </p:cNvSpPr>
          <p:nvPr>
            <p:ph type="tbl" sz="quarter" idx="37"/>
          </p:nvPr>
        </p:nvSpPr>
        <p:spPr>
          <a:xfrm>
            <a:off x="16497323" y="26084285"/>
            <a:ext cx="12358772" cy="5357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62" name="Zástupný symbol pro text 24"/>
          <p:cNvSpPr>
            <a:spLocks noGrp="1"/>
          </p:cNvSpPr>
          <p:nvPr>
            <p:ph type="body" sz="quarter" idx="21" hasCustomPrompt="1"/>
          </p:nvPr>
        </p:nvSpPr>
        <p:spPr>
          <a:xfrm>
            <a:off x="4209979" y="615958"/>
            <a:ext cx="20574144" cy="20634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7997" b="1" baseline="0">
                <a:solidFill>
                  <a:srgbClr val="004454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cs-CZ" dirty="0"/>
              <a:t>Poster </a:t>
            </a:r>
            <a:r>
              <a:rPr lang="cs-CZ" dirty="0" err="1"/>
              <a:t>Title</a:t>
            </a:r>
            <a:r>
              <a:rPr lang="cs-CZ" dirty="0"/>
              <a:t> Enter </a:t>
            </a:r>
            <a:r>
              <a:rPr lang="cs-CZ" dirty="0" err="1"/>
              <a:t>Here</a:t>
            </a:r>
            <a:r>
              <a:rPr lang="cs-CZ" dirty="0"/>
              <a:t> </a:t>
            </a:r>
          </a:p>
        </p:txBody>
      </p:sp>
      <p:sp>
        <p:nvSpPr>
          <p:cNvPr id="63" name="Zástupný symbol pro text 24"/>
          <p:cNvSpPr>
            <a:spLocks noGrp="1"/>
          </p:cNvSpPr>
          <p:nvPr>
            <p:ph type="body" sz="quarter" idx="22" hasCustomPrompt="1"/>
          </p:nvPr>
        </p:nvSpPr>
        <p:spPr>
          <a:xfrm>
            <a:off x="4209979" y="2679424"/>
            <a:ext cx="20574144" cy="7228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44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 dirty="0"/>
              <a:t>Authors</a:t>
            </a:r>
          </a:p>
        </p:txBody>
      </p:sp>
      <p:sp>
        <p:nvSpPr>
          <p:cNvPr id="64" name="Zástupný symbol pro text 24"/>
          <p:cNvSpPr>
            <a:spLocks noGrp="1"/>
          </p:cNvSpPr>
          <p:nvPr>
            <p:ph type="body" sz="quarter" idx="23" hasCustomPrompt="1"/>
          </p:nvPr>
        </p:nvSpPr>
        <p:spPr>
          <a:xfrm>
            <a:off x="4209979" y="3401916"/>
            <a:ext cx="20574144" cy="172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 err="1"/>
              <a:t>Institutions</a:t>
            </a:r>
            <a:r>
              <a:rPr lang="cs-CZ" dirty="0"/>
              <a:t> involved</a:t>
            </a:r>
          </a:p>
        </p:txBody>
      </p:sp>
      <p:sp>
        <p:nvSpPr>
          <p:cNvPr id="69" name="Zástupný symbol pro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12907745" y="6641785"/>
            <a:ext cx="16417835" cy="69856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5C70"/>
                </a:solidFill>
              </a:defRPr>
            </a:lvl1pPr>
            <a:lvl2pPr marL="0" indent="0">
              <a:buNone/>
              <a:defRPr sz="2200"/>
            </a:lvl2pPr>
            <a:lvl3pPr marL="172717" indent="-172717">
              <a:defRPr sz="2000"/>
            </a:lvl3pPr>
            <a:lvl4pPr marL="363428" indent="-190708">
              <a:spcBef>
                <a:spcPts val="482"/>
              </a:spcBef>
              <a:defRPr sz="2000"/>
            </a:lvl4pPr>
            <a:lvl5pPr marL="532541" indent="-172717">
              <a:spcBef>
                <a:spcPts val="385"/>
              </a:spcBef>
              <a:defRPr sz="2000"/>
            </a:lvl5pPr>
          </a:lstStyle>
          <a:p>
            <a:pPr lvl="0"/>
            <a:r>
              <a:rPr lang="cs-CZ" dirty="0" err="1"/>
              <a:t>Title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22" name="Zástupný symbol pro text 2">
            <a:extLst>
              <a:ext uri="{FF2B5EF4-FFF2-40B4-BE49-F238E27FC236}">
                <a16:creationId xmlns:a16="http://schemas.microsoft.com/office/drawing/2014/main" id="{F1226864-60ED-4841-8250-14599179B4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5268" y="6641785"/>
            <a:ext cx="10616330" cy="69856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  <a:lvl2pPr marL="0" indent="0">
              <a:buNone/>
              <a:defRPr sz="2200">
                <a:solidFill>
                  <a:schemeClr val="bg1"/>
                </a:solidFill>
              </a:defRPr>
            </a:lvl2pPr>
            <a:lvl3pPr marL="172717" indent="-172717">
              <a:defRPr sz="2000">
                <a:solidFill>
                  <a:schemeClr val="bg1"/>
                </a:solidFill>
              </a:defRPr>
            </a:lvl3pPr>
            <a:lvl4pPr marL="363428" indent="-190708">
              <a:spcBef>
                <a:spcPts val="482"/>
              </a:spcBef>
              <a:defRPr sz="2000">
                <a:solidFill>
                  <a:schemeClr val="bg1"/>
                </a:solidFill>
              </a:defRPr>
            </a:lvl4pPr>
            <a:lvl5pPr marL="532541" indent="-172717">
              <a:spcBef>
                <a:spcPts val="385"/>
              </a:spcBef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 err="1"/>
              <a:t>Introduction</a:t>
            </a:r>
            <a:endParaRPr lang="cs-CZ" dirty="0"/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649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Lišty s nadpis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ástupný symbol pro text 6"/>
          <p:cNvSpPr>
            <a:spLocks noGrp="1"/>
          </p:cNvSpPr>
          <p:nvPr>
            <p:ph type="body" sz="quarter" idx="28" hasCustomPrompt="1"/>
          </p:nvPr>
        </p:nvSpPr>
        <p:spPr>
          <a:xfrm>
            <a:off x="574194" y="15498759"/>
            <a:ext cx="14400000" cy="4754518"/>
          </a:xfrm>
          <a:prstGeom prst="rect">
            <a:avLst/>
          </a:prstGeom>
        </p:spPr>
        <p:txBody>
          <a:bodyPr lIns="252000" tIns="216000" rIns="252000" bIns="216000"/>
          <a:lstStyle>
            <a:lvl1pPr marL="0" indent="0">
              <a:buNone/>
              <a:defRPr lang="cs-CZ" sz="2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482"/>
              </a:spcBef>
              <a:buNone/>
              <a:defRPr lang="cs-CZ" sz="22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72717" indent="-172717">
              <a:defRPr lang="cs-CZ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63428" indent="-190708">
              <a:spcBef>
                <a:spcPts val="482"/>
              </a:spcBef>
              <a:defRPr lang="cs-CZ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532541" indent="-172717">
              <a:spcBef>
                <a:spcPts val="385"/>
              </a:spcBef>
              <a:defRPr lang="cs-CZ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32" name="Zástupný symbol pro obrázek 8"/>
          <p:cNvSpPr>
            <a:spLocks noGrp="1"/>
          </p:cNvSpPr>
          <p:nvPr>
            <p:ph type="pic" sz="quarter" idx="29"/>
          </p:nvPr>
        </p:nvSpPr>
        <p:spPr>
          <a:xfrm>
            <a:off x="1593251" y="20796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3" name="Zástupný symbol pro graf 11"/>
          <p:cNvSpPr>
            <a:spLocks noGrp="1"/>
          </p:cNvSpPr>
          <p:nvPr>
            <p:ph type="chart" sz="quarter" idx="30"/>
          </p:nvPr>
        </p:nvSpPr>
        <p:spPr>
          <a:xfrm>
            <a:off x="8139073" y="20796241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6" name="Zástupný symbol pro tabulku 13"/>
          <p:cNvSpPr>
            <a:spLocks noGrp="1"/>
          </p:cNvSpPr>
          <p:nvPr>
            <p:ph type="tbl" sz="quarter" idx="31"/>
          </p:nvPr>
        </p:nvSpPr>
        <p:spPr>
          <a:xfrm>
            <a:off x="1566777" y="26047751"/>
            <a:ext cx="12358772" cy="5357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7" name="Zástupný symbol pro text 2"/>
          <p:cNvSpPr>
            <a:spLocks noGrp="1"/>
          </p:cNvSpPr>
          <p:nvPr>
            <p:ph type="body" sz="quarter" idx="32" hasCustomPrompt="1"/>
          </p:nvPr>
        </p:nvSpPr>
        <p:spPr>
          <a:xfrm>
            <a:off x="574196" y="33717639"/>
            <a:ext cx="29146702" cy="4320481"/>
          </a:xfrm>
          <a:prstGeom prst="rect">
            <a:avLst/>
          </a:prstGeom>
        </p:spPr>
        <p:txBody>
          <a:bodyPr lIns="252000" tIns="216000" rIns="252000" bIns="216000"/>
          <a:lstStyle>
            <a:lvl1pPr marL="0" indent="0">
              <a:buNone/>
              <a:defRPr sz="2200" b="0">
                <a:solidFill>
                  <a:schemeClr val="tx1"/>
                </a:solidFill>
              </a:defRPr>
            </a:lvl1pPr>
            <a:lvl2pPr marL="0" indent="0">
              <a:buNone/>
              <a:defRPr sz="2200"/>
            </a:lvl2pPr>
            <a:lvl3pPr marL="172717" indent="-172717">
              <a:defRPr sz="2000"/>
            </a:lvl3pPr>
            <a:lvl4pPr marL="363428" indent="-190708">
              <a:spcBef>
                <a:spcPts val="482"/>
              </a:spcBef>
              <a:defRPr sz="2000"/>
            </a:lvl4pPr>
            <a:lvl5pPr marL="532541" indent="-172717">
              <a:spcBef>
                <a:spcPts val="385"/>
              </a:spcBef>
              <a:defRPr sz="2000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38" name="Zástupný symbol pro text 2"/>
          <p:cNvSpPr>
            <a:spLocks noGrp="1"/>
          </p:cNvSpPr>
          <p:nvPr>
            <p:ph type="body" sz="quarter" idx="33" hasCustomPrompt="1"/>
          </p:nvPr>
        </p:nvSpPr>
        <p:spPr>
          <a:xfrm>
            <a:off x="574196" y="39550288"/>
            <a:ext cx="29146702" cy="1570873"/>
          </a:xfrm>
          <a:prstGeom prst="rect">
            <a:avLst/>
          </a:prstGeom>
          <a:noFill/>
        </p:spPr>
        <p:txBody>
          <a:bodyPr lIns="252000" tIns="216000" rIns="252000" bIns="216000"/>
          <a:lstStyle>
            <a:lvl1pPr marL="0" indent="0">
              <a:buNone/>
              <a:defRPr sz="2200" b="0">
                <a:solidFill>
                  <a:schemeClr val="tx1"/>
                </a:solidFill>
              </a:defRPr>
            </a:lvl1pPr>
            <a:lvl2pPr marL="0" indent="0">
              <a:buNone/>
              <a:defRPr sz="2200">
                <a:solidFill>
                  <a:schemeClr val="tx1"/>
                </a:solidFill>
              </a:defRPr>
            </a:lvl2pPr>
            <a:lvl3pPr marL="172717" indent="-172717">
              <a:defRPr sz="2001"/>
            </a:lvl3pPr>
            <a:lvl4pPr marL="363428" indent="-190708">
              <a:spcBef>
                <a:spcPts val="482"/>
              </a:spcBef>
              <a:defRPr sz="2001"/>
            </a:lvl4pPr>
            <a:lvl5pPr marL="532541" indent="-172717">
              <a:spcBef>
                <a:spcPts val="385"/>
              </a:spcBef>
              <a:defRPr sz="2000"/>
            </a:lvl5pPr>
          </a:lstStyle>
          <a:p>
            <a:pPr lvl="0"/>
            <a:r>
              <a:rPr lang="cs-CZ" dirty="0"/>
              <a:t>První úroveň</a:t>
            </a:r>
          </a:p>
        </p:txBody>
      </p:sp>
      <p:sp>
        <p:nvSpPr>
          <p:cNvPr id="40" name="Zástupný symbol pro text 6"/>
          <p:cNvSpPr>
            <a:spLocks noGrp="1"/>
          </p:cNvSpPr>
          <p:nvPr>
            <p:ph type="body" sz="quarter" idx="34" hasCustomPrompt="1"/>
          </p:nvPr>
        </p:nvSpPr>
        <p:spPr>
          <a:xfrm>
            <a:off x="15320897" y="15498759"/>
            <a:ext cx="14400000" cy="4754518"/>
          </a:xfrm>
          <a:prstGeom prst="rect">
            <a:avLst/>
          </a:prstGeom>
        </p:spPr>
        <p:txBody>
          <a:bodyPr lIns="252000" tIns="216000" rIns="252000" bIns="216000"/>
          <a:lstStyle>
            <a:lvl1pPr marL="0" indent="0">
              <a:buNone/>
              <a:defRPr lang="cs-CZ" sz="2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482"/>
              </a:spcBef>
              <a:buNone/>
              <a:defRPr lang="cs-CZ" sz="2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2717" indent="-172717">
              <a:buClr>
                <a:schemeClr val="bg1"/>
              </a:buClr>
              <a:defRPr lang="cs-CZ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428" indent="-190708">
              <a:spcBef>
                <a:spcPts val="482"/>
              </a:spcBef>
              <a:buClr>
                <a:schemeClr val="bg1"/>
              </a:buClr>
              <a:defRPr lang="cs-CZ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2541" indent="-172717">
              <a:spcBef>
                <a:spcPts val="385"/>
              </a:spcBef>
              <a:buClr>
                <a:schemeClr val="bg1"/>
              </a:buClr>
              <a:defRPr lang="cs-CZ" sz="20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1" name="Zástupný symbol pro obrázek 8"/>
          <p:cNvSpPr>
            <a:spLocks noGrp="1"/>
          </p:cNvSpPr>
          <p:nvPr>
            <p:ph type="pic" sz="quarter" idx="35"/>
          </p:nvPr>
        </p:nvSpPr>
        <p:spPr>
          <a:xfrm>
            <a:off x="16523793" y="20832772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42" name="Zástupný symbol pro graf 11"/>
          <p:cNvSpPr>
            <a:spLocks noGrp="1"/>
          </p:cNvSpPr>
          <p:nvPr>
            <p:ph type="chart" sz="quarter" idx="36"/>
          </p:nvPr>
        </p:nvSpPr>
        <p:spPr>
          <a:xfrm>
            <a:off x="23069613" y="20832772"/>
            <a:ext cx="5760001" cy="46800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43" name="Zástupný symbol pro tabulku 13"/>
          <p:cNvSpPr>
            <a:spLocks noGrp="1"/>
          </p:cNvSpPr>
          <p:nvPr>
            <p:ph type="tbl" sz="quarter" idx="37"/>
          </p:nvPr>
        </p:nvSpPr>
        <p:spPr>
          <a:xfrm>
            <a:off x="16497323" y="26084285"/>
            <a:ext cx="12358772" cy="5357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cs-CZ" dirty="0"/>
          </a:p>
        </p:txBody>
      </p:sp>
      <p:sp>
        <p:nvSpPr>
          <p:cNvPr id="31" name="Zástupný symbol pro text 24"/>
          <p:cNvSpPr>
            <a:spLocks noGrp="1"/>
          </p:cNvSpPr>
          <p:nvPr>
            <p:ph type="body" sz="quarter" idx="21" hasCustomPrompt="1"/>
          </p:nvPr>
        </p:nvSpPr>
        <p:spPr>
          <a:xfrm>
            <a:off x="4209979" y="615958"/>
            <a:ext cx="20574144" cy="20634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7997" b="1" baseline="0">
                <a:solidFill>
                  <a:srgbClr val="004454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cs-CZ" dirty="0"/>
              <a:t>Poster </a:t>
            </a:r>
            <a:r>
              <a:rPr lang="cs-CZ" dirty="0" err="1"/>
              <a:t>Title</a:t>
            </a:r>
            <a:r>
              <a:rPr lang="cs-CZ" dirty="0"/>
              <a:t> Enter </a:t>
            </a:r>
            <a:r>
              <a:rPr lang="cs-CZ" dirty="0" err="1"/>
              <a:t>Here</a:t>
            </a:r>
            <a:r>
              <a:rPr lang="cs-CZ" dirty="0"/>
              <a:t> </a:t>
            </a:r>
          </a:p>
        </p:txBody>
      </p:sp>
      <p:sp>
        <p:nvSpPr>
          <p:cNvPr id="34" name="Zástupný symbol pro text 24"/>
          <p:cNvSpPr>
            <a:spLocks noGrp="1"/>
          </p:cNvSpPr>
          <p:nvPr>
            <p:ph type="body" sz="quarter" idx="22" hasCustomPrompt="1"/>
          </p:nvPr>
        </p:nvSpPr>
        <p:spPr>
          <a:xfrm>
            <a:off x="4209979" y="2679424"/>
            <a:ext cx="20574144" cy="7228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44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 dirty="0"/>
              <a:t>Authors</a:t>
            </a:r>
          </a:p>
        </p:txBody>
      </p:sp>
      <p:sp>
        <p:nvSpPr>
          <p:cNvPr id="35" name="Zástupný symbol pro text 24"/>
          <p:cNvSpPr>
            <a:spLocks noGrp="1"/>
          </p:cNvSpPr>
          <p:nvPr>
            <p:ph type="body" sz="quarter" idx="23" hasCustomPrompt="1"/>
          </p:nvPr>
        </p:nvSpPr>
        <p:spPr>
          <a:xfrm>
            <a:off x="4209979" y="3401916"/>
            <a:ext cx="20574144" cy="172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 err="1"/>
              <a:t>Institutions</a:t>
            </a:r>
            <a:r>
              <a:rPr lang="cs-CZ" dirty="0"/>
              <a:t> involved</a:t>
            </a:r>
          </a:p>
        </p:txBody>
      </p:sp>
      <p:sp>
        <p:nvSpPr>
          <p:cNvPr id="51" name="Zástupný symbol pro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574196" y="7290822"/>
            <a:ext cx="29146702" cy="7093412"/>
          </a:xfrm>
          <a:prstGeom prst="rect">
            <a:avLst/>
          </a:prstGeom>
        </p:spPr>
        <p:txBody>
          <a:bodyPr lIns="252000" tIns="216000" rIns="252000" bIns="216000"/>
          <a:lstStyle>
            <a:lvl1pPr marL="0" indent="0">
              <a:buNone/>
              <a:defRPr lang="cs-CZ" sz="2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2200"/>
            </a:lvl2pPr>
            <a:lvl3pPr marL="172717" indent="-172717">
              <a:defRPr sz="2200"/>
            </a:lvl3pPr>
            <a:lvl4pPr marL="363428" indent="-190708">
              <a:spcBef>
                <a:spcPts val="482"/>
              </a:spcBef>
              <a:defRPr sz="2200"/>
            </a:lvl4pPr>
            <a:lvl5pPr marL="532541" indent="-172717">
              <a:spcBef>
                <a:spcPts val="385"/>
              </a:spcBef>
              <a:defRPr sz="2200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90106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9" r:id="rId2"/>
    <p:sldLayoutId id="2147483666" r:id="rId3"/>
    <p:sldLayoutId id="2147483668" r:id="rId4"/>
  </p:sldLayoutIdLst>
  <p:txStyles>
    <p:titleStyle>
      <a:lvl1pPr algn="l" defTabSz="4172792" rtl="0" eaLnBrk="1" latinLnBrk="0" hangingPunct="1">
        <a:spcBef>
          <a:spcPct val="0"/>
        </a:spcBef>
        <a:buNone/>
        <a:defRPr sz="14593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1564799" indent="-1564799" algn="l" defTabSz="4172792" rtl="0" eaLnBrk="1" latinLnBrk="0" hangingPunct="1">
        <a:spcBef>
          <a:spcPct val="20000"/>
        </a:spcBef>
        <a:buClr>
          <a:schemeClr val="tx2"/>
        </a:buClr>
        <a:buSzPct val="100000"/>
        <a:buFont typeface="Arial" pitchFamily="34" charset="0"/>
        <a:buChar char="•"/>
        <a:defRPr sz="145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390386" indent="-1303998" algn="l" defTabSz="4172792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2795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215984" indent="-1043196" algn="l" defTabSz="4172792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0995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302377" indent="-1043196" algn="l" defTabSz="4172792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909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388776" indent="-1043196" algn="l" defTabSz="4172792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909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1475172" indent="-1043196" algn="l" defTabSz="4172792" rtl="0" eaLnBrk="1" latinLnBrk="0" hangingPunct="1">
        <a:spcBef>
          <a:spcPct val="20000"/>
        </a:spcBef>
        <a:buFont typeface="Arial" pitchFamily="34" charset="0"/>
        <a:buChar char="•"/>
        <a:defRPr sz="9097" kern="1200">
          <a:solidFill>
            <a:schemeClr val="tx1"/>
          </a:solidFill>
          <a:latin typeface="+mn-lt"/>
          <a:ea typeface="+mn-ea"/>
          <a:cs typeface="+mn-cs"/>
        </a:defRPr>
      </a:lvl6pPr>
      <a:lvl7pPr marL="13561560" indent="-1043196" algn="l" defTabSz="4172792" rtl="0" eaLnBrk="1" latinLnBrk="0" hangingPunct="1">
        <a:spcBef>
          <a:spcPct val="20000"/>
        </a:spcBef>
        <a:buFont typeface="Arial" pitchFamily="34" charset="0"/>
        <a:buChar char="•"/>
        <a:defRPr sz="9097" kern="1200">
          <a:solidFill>
            <a:schemeClr val="tx1"/>
          </a:solidFill>
          <a:latin typeface="+mn-lt"/>
          <a:ea typeface="+mn-ea"/>
          <a:cs typeface="+mn-cs"/>
        </a:defRPr>
      </a:lvl7pPr>
      <a:lvl8pPr marL="15647959" indent="-1043196" algn="l" defTabSz="4172792" rtl="0" eaLnBrk="1" latinLnBrk="0" hangingPunct="1">
        <a:spcBef>
          <a:spcPct val="20000"/>
        </a:spcBef>
        <a:buFont typeface="Arial" pitchFamily="34" charset="0"/>
        <a:buChar char="•"/>
        <a:defRPr sz="9097" kern="1200">
          <a:solidFill>
            <a:schemeClr val="tx1"/>
          </a:solidFill>
          <a:latin typeface="+mn-lt"/>
          <a:ea typeface="+mn-ea"/>
          <a:cs typeface="+mn-cs"/>
        </a:defRPr>
      </a:lvl8pPr>
      <a:lvl9pPr marL="17734348" indent="-1043196" algn="l" defTabSz="4172792" rtl="0" eaLnBrk="1" latinLnBrk="0" hangingPunct="1">
        <a:spcBef>
          <a:spcPct val="20000"/>
        </a:spcBef>
        <a:buFont typeface="Arial" pitchFamily="34" charset="0"/>
        <a:buChar char="•"/>
        <a:defRPr sz="90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1pPr>
      <a:lvl2pPr marL="2086393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2pPr>
      <a:lvl3pPr marL="4172792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3pPr>
      <a:lvl4pPr marL="6259183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4pPr>
      <a:lvl5pPr marL="8345576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5pPr>
      <a:lvl6pPr marL="10431971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6pPr>
      <a:lvl7pPr marL="12518364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7pPr>
      <a:lvl8pPr marL="14604753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8pPr>
      <a:lvl9pPr marL="16691159" algn="l" defTabSz="4172792" rtl="0" eaLnBrk="1" latinLnBrk="0" hangingPunct="1">
        <a:defRPr sz="81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aoblený obdélník 23"/>
          <p:cNvSpPr/>
          <p:nvPr/>
        </p:nvSpPr>
        <p:spPr>
          <a:xfrm>
            <a:off x="574203" y="12691294"/>
            <a:ext cx="29146705" cy="900000"/>
          </a:xfrm>
          <a:prstGeom prst="roundRect">
            <a:avLst>
              <a:gd name="adj" fmla="val 21759"/>
            </a:avLst>
          </a:prstGeom>
          <a:solidFill>
            <a:srgbClr val="005C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100" dirty="0">
                <a:solidFill>
                  <a:srgbClr val="FFFFFF"/>
                </a:solidFill>
              </a:rPr>
              <a:t>Classical approach </a:t>
            </a:r>
            <a:endParaRPr lang="cs-CZ" sz="2401" b="1" spc="100" dirty="0">
              <a:solidFill>
                <a:srgbClr val="FFFFFF"/>
              </a:solidFill>
            </a:endParaRPr>
          </a:p>
        </p:txBody>
      </p:sp>
      <p:sp>
        <p:nvSpPr>
          <p:cNvPr id="27" name="Zástupný symbol pro zápatí 29">
            <a:extLst>
              <a:ext uri="{FF2B5EF4-FFF2-40B4-BE49-F238E27FC236}">
                <a16:creationId xmlns:a16="http://schemas.microsoft.com/office/drawing/2014/main" id="{B346F954-7C37-44FA-8C7F-4DE0604849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41406763"/>
            <a:ext cx="30279975" cy="1401762"/>
          </a:xfrm>
          <a:prstGeom prst="rect">
            <a:avLst/>
          </a:prstGeom>
          <a:solidFill>
            <a:srgbClr val="005C70"/>
          </a:solidFill>
        </p:spPr>
        <p:txBody>
          <a:bodyPr anchor="ctr"/>
          <a:lstStyle>
            <a:lvl1pPr algn="ctr"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ML4MatSci: Hands-on Machine Learning for Research in Materials Sciences – 2nd PhD Summer School</a:t>
            </a:r>
            <a:endParaRPr lang="cs-CZ" dirty="0"/>
          </a:p>
        </p:txBody>
      </p:sp>
      <p:sp>
        <p:nvSpPr>
          <p:cNvPr id="45" name="Zaoblený obdélník 23">
            <a:extLst>
              <a:ext uri="{FF2B5EF4-FFF2-40B4-BE49-F238E27FC236}">
                <a16:creationId xmlns:a16="http://schemas.microsoft.com/office/drawing/2014/main" id="{73A2BD4A-EBA8-418F-ABCE-A5124473859F}"/>
              </a:ext>
            </a:extLst>
          </p:cNvPr>
          <p:cNvSpPr/>
          <p:nvPr/>
        </p:nvSpPr>
        <p:spPr>
          <a:xfrm>
            <a:off x="610905" y="23132454"/>
            <a:ext cx="14400002" cy="900000"/>
          </a:xfrm>
          <a:prstGeom prst="roundRect">
            <a:avLst>
              <a:gd name="adj" fmla="val 21759"/>
            </a:avLst>
          </a:prstGeom>
          <a:solidFill>
            <a:srgbClr val="005C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100" dirty="0">
                <a:solidFill>
                  <a:srgbClr val="FFFFFF"/>
                </a:solidFill>
              </a:rPr>
              <a:t>ML APPROACH: </a:t>
            </a:r>
            <a:r>
              <a:rPr lang="en-US" sz="3200" b="1" spc="100" dirty="0" err="1">
                <a:solidFill>
                  <a:srgbClr val="FFFFFF"/>
                </a:solidFill>
              </a:rPr>
              <a:t>DeepSKAN</a:t>
            </a:r>
            <a:endParaRPr lang="en-US" sz="3200" b="1" spc="100" dirty="0">
              <a:solidFill>
                <a:srgbClr val="FFFFFF"/>
              </a:solidFill>
            </a:endParaRPr>
          </a:p>
        </p:txBody>
      </p:sp>
      <p:sp>
        <p:nvSpPr>
          <p:cNvPr id="46" name="Zaoblený obdélník 23">
            <a:extLst>
              <a:ext uri="{FF2B5EF4-FFF2-40B4-BE49-F238E27FC236}">
                <a16:creationId xmlns:a16="http://schemas.microsoft.com/office/drawing/2014/main" id="{72E7270D-9D3E-47B1-9AA8-41AA3093DC24}"/>
              </a:ext>
            </a:extLst>
          </p:cNvPr>
          <p:cNvSpPr/>
          <p:nvPr/>
        </p:nvSpPr>
        <p:spPr>
          <a:xfrm>
            <a:off x="15357609" y="23132454"/>
            <a:ext cx="14400002" cy="900000"/>
          </a:xfrm>
          <a:prstGeom prst="roundRect">
            <a:avLst>
              <a:gd name="adj" fmla="val 21759"/>
            </a:avLst>
          </a:prstGeom>
          <a:solidFill>
            <a:srgbClr val="005C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100" dirty="0">
                <a:solidFill>
                  <a:srgbClr val="FFFFFF"/>
                </a:solidFill>
              </a:rPr>
              <a:t>Results</a:t>
            </a:r>
            <a:endParaRPr lang="cs-CZ" sz="2401" b="1" spc="100" dirty="0">
              <a:solidFill>
                <a:srgbClr val="FFFFFF"/>
              </a:solidFill>
            </a:endParaRPr>
          </a:p>
        </p:txBody>
      </p:sp>
      <p:sp>
        <p:nvSpPr>
          <p:cNvPr id="26" name="Zaoblený obdélník 23">
            <a:extLst>
              <a:ext uri="{FF2B5EF4-FFF2-40B4-BE49-F238E27FC236}">
                <a16:creationId xmlns:a16="http://schemas.microsoft.com/office/drawing/2014/main" id="{17DF5829-DF26-46F7-A998-981BA5CE65C0}"/>
              </a:ext>
            </a:extLst>
          </p:cNvPr>
          <p:cNvSpPr/>
          <p:nvPr/>
        </p:nvSpPr>
        <p:spPr>
          <a:xfrm>
            <a:off x="578276" y="38614174"/>
            <a:ext cx="29146705" cy="900000"/>
          </a:xfrm>
          <a:prstGeom prst="roundRect">
            <a:avLst>
              <a:gd name="adj" fmla="val 21759"/>
            </a:avLst>
          </a:prstGeom>
          <a:solidFill>
            <a:srgbClr val="005C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100" dirty="0">
                <a:solidFill>
                  <a:srgbClr val="FFFFFF"/>
                </a:solidFill>
              </a:rPr>
              <a:t>Future Directions &amp; Why I Am Here: </a:t>
            </a:r>
            <a:endParaRPr lang="cs-CZ" sz="2401" b="1" spc="100" dirty="0">
              <a:solidFill>
                <a:srgbClr val="FFFFFF"/>
              </a:solidFill>
            </a:endParaRPr>
          </a:p>
        </p:txBody>
      </p:sp>
      <p:pic>
        <p:nvPicPr>
          <p:cNvPr id="47" name="Picture 2" descr="C:\Users\Uživatel\Desktop\Di-art 17\logo makro\LOGA\3 logo v ose en\logo v ose en JPEG\logo v ose en.jpg">
            <a:extLst>
              <a:ext uri="{FF2B5EF4-FFF2-40B4-BE49-F238E27FC236}">
                <a16:creationId xmlns:a16="http://schemas.microsoft.com/office/drawing/2014/main" id="{ABA70585-068F-4CA8-99F0-3D6BE0059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399" y="228375"/>
            <a:ext cx="4000224" cy="4902080"/>
          </a:xfrm>
          <a:prstGeom prst="rect">
            <a:avLst/>
          </a:prstGeom>
          <a:noFill/>
        </p:spPr>
      </p:pic>
      <p:sp>
        <p:nvSpPr>
          <p:cNvPr id="61" name="TextovéPole 60">
            <a:extLst>
              <a:ext uri="{FF2B5EF4-FFF2-40B4-BE49-F238E27FC236}">
                <a16:creationId xmlns:a16="http://schemas.microsoft.com/office/drawing/2014/main" id="{C2D171F5-781D-4623-ABBE-30AFD584DABF}"/>
              </a:ext>
            </a:extLst>
          </p:cNvPr>
          <p:cNvSpPr txBox="1"/>
          <p:nvPr/>
        </p:nvSpPr>
        <p:spPr>
          <a:xfrm>
            <a:off x="574193" y="39622286"/>
            <a:ext cx="29127510" cy="1620276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The "Vibe-Coding" Confession: As a spectroscopy major, I used AI to help me modernize and code this custom </a:t>
            </a:r>
            <a:r>
              <a:rPr lang="en-US" sz="2200" dirty="0" err="1"/>
              <a:t>PyTorch</a:t>
            </a:r>
            <a:r>
              <a:rPr lang="en-US" sz="2200" dirty="0"/>
              <a:t> architecture. It appeared to solved the problem, but I am largely "vibe-coding" the deep learning aspects!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Looking for Feedback: I came to this Summer School specifically to find out: Am I doing this right? I understand the physical chemistry perfectly, but I am looking for experts to help me understand exactly why my code works so well.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Call for Collaboration: Seeking ML/DL collaborators to help transition this from an AI-assisted experiment into a rigorously optimized, autonomous pipeline.</a:t>
            </a:r>
            <a:endParaRPr lang="cs-CZ" sz="2200" dirty="0"/>
          </a:p>
        </p:txBody>
      </p:sp>
      <p:sp>
        <p:nvSpPr>
          <p:cNvPr id="62" name="TextovéPole 61">
            <a:extLst>
              <a:ext uri="{FF2B5EF4-FFF2-40B4-BE49-F238E27FC236}">
                <a16:creationId xmlns:a16="http://schemas.microsoft.com/office/drawing/2014/main" id="{7F822734-01B2-4482-9508-68F58E98AA87}"/>
              </a:ext>
            </a:extLst>
          </p:cNvPr>
          <p:cNvSpPr txBox="1"/>
          <p:nvPr/>
        </p:nvSpPr>
        <p:spPr>
          <a:xfrm>
            <a:off x="666379" y="13627398"/>
            <a:ext cx="8856984" cy="9865096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000" b="0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Ultrafast spectroscopy generates massive, complex 2D datasets.</a:t>
            </a: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200" b="1">
                <a:solidFill>
                  <a:srgbClr val="E74C3C"/>
                </a:solidFill>
              </a:defRPr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Challenges: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ambiguity: different  kinetic models fit the same data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Overlapping, broad excited-state spectral features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Expert bottleneck: manual model guessing takes hours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Subjective — different researchers  may choose different models</a:t>
            </a: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200" b="1">
                <a:solidFill>
                  <a:srgbClr val="1A5276"/>
                </a:solidFill>
              </a:defRPr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Molecular system under study :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H/D-substituted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indolonaphthyridines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complex (CBK-H - Protonated, CBK-D - Deuterated ).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400" dirty="0"/>
              <a:t>Measure the Kinetics by comparing Protonated and Deuterated 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Excitation 476 nm, white-light continuum probe (430–800 nm).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1900" b="1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Sequential relaxation: A → B → C → Ground State</a:t>
            </a:r>
          </a:p>
        </p:txBody>
      </p:sp>
      <p:sp>
        <p:nvSpPr>
          <p:cNvPr id="63" name="TextovéPole 62">
            <a:extLst>
              <a:ext uri="{FF2B5EF4-FFF2-40B4-BE49-F238E27FC236}">
                <a16:creationId xmlns:a16="http://schemas.microsoft.com/office/drawing/2014/main" id="{CABBC649-67FF-4396-9856-03C2AD5F7A87}"/>
              </a:ext>
            </a:extLst>
          </p:cNvPr>
          <p:cNvSpPr txBox="1"/>
          <p:nvPr/>
        </p:nvSpPr>
        <p:spPr>
          <a:xfrm>
            <a:off x="610905" y="24212574"/>
            <a:ext cx="14384884" cy="5940759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lvl="1" indent="-342900">
              <a:buFontTx/>
              <a:buChar char="☼"/>
            </a:pPr>
            <a:r>
              <a:rPr lang="en-US" sz="2400" dirty="0"/>
              <a:t>The Inspiration: We turned to </a:t>
            </a:r>
            <a:r>
              <a:rPr lang="en-US" sz="2400" dirty="0" err="1"/>
              <a:t>DeepSKAN</a:t>
            </a:r>
            <a:r>
              <a:rPr lang="en-US" sz="2400" dirty="0"/>
              <a:t> (</a:t>
            </a:r>
            <a:r>
              <a:rPr lang="en-US" sz="2400" dirty="0" err="1"/>
              <a:t>Kollenz</a:t>
            </a:r>
            <a:r>
              <a:rPr lang="en-US" sz="2400" dirty="0"/>
              <a:t> 2020) for unbiased topological discovery. </a:t>
            </a:r>
            <a:r>
              <a:rPr lang="cs-CZ" sz="2400" dirty="0" err="1"/>
              <a:t>DeepSKAN</a:t>
            </a:r>
            <a:r>
              <a:rPr lang="cs-CZ" sz="2400" dirty="0"/>
              <a:t> (</a:t>
            </a:r>
            <a:r>
              <a:rPr lang="cs-CZ" sz="2400" dirty="0" err="1"/>
              <a:t>Kollenz</a:t>
            </a:r>
            <a:r>
              <a:rPr lang="cs-CZ" sz="2400" dirty="0"/>
              <a:t> et al., J. </a:t>
            </a:r>
            <a:r>
              <a:rPr lang="cs-CZ" sz="2400" dirty="0" err="1"/>
              <a:t>Phys</a:t>
            </a:r>
            <a:r>
              <a:rPr lang="cs-CZ" sz="2400" dirty="0"/>
              <a:t>. </a:t>
            </a:r>
            <a:r>
              <a:rPr lang="cs-CZ" sz="2400" dirty="0" err="1"/>
              <a:t>Chem</a:t>
            </a:r>
            <a:r>
              <a:rPr lang="cs-CZ" sz="2400" dirty="0"/>
              <a:t>. B, 2020)</a:t>
            </a:r>
            <a:r>
              <a:rPr lang="en-US" sz="2400" dirty="0"/>
              <a:t> </a:t>
            </a:r>
            <a:r>
              <a:rPr lang="cs-CZ" sz="2400" dirty="0"/>
              <a:t>DOI: 10.1021/acs.jpcb.0c04299</a:t>
            </a:r>
            <a:endParaRPr lang="en-US" sz="2400" dirty="0"/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b="1" dirty="0"/>
              <a:t>Image-Based Analysis: </a:t>
            </a:r>
            <a:r>
              <a:rPr lang="en-US" sz="2400" dirty="0"/>
              <a:t>Treats raw 2D transient absorption heatmaps directly as images (Time vs. Wavelength).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b="1" dirty="0"/>
              <a:t>Custom 7-Block </a:t>
            </a:r>
            <a:r>
              <a:rPr lang="en-US" sz="2400" b="1" dirty="0" err="1"/>
              <a:t>ResNet</a:t>
            </a:r>
            <a:r>
              <a:rPr lang="en-US" sz="2400" b="1" dirty="0"/>
              <a:t>: </a:t>
            </a:r>
            <a:r>
              <a:rPr lang="en-US" sz="2400" dirty="0"/>
              <a:t>Uses asymmetric 1D convolutional kernels to isolate temporal decays, then square 2D kernels to extract </a:t>
            </a:r>
            <a:r>
              <a:rPr lang="en-US" sz="2400" dirty="0" err="1"/>
              <a:t>spatio</a:t>
            </a:r>
            <a:r>
              <a:rPr lang="en-US" sz="2400" dirty="0"/>
              <a:t>-temporal features.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b="1" dirty="0"/>
              <a:t>Robust Architecture: </a:t>
            </a:r>
            <a:r>
              <a:rPr lang="en-US" sz="2400" dirty="0"/>
              <a:t>Upgraded with Adaptive Pooling to accept any spectrometer resolution, and Batch Normalization/Dropout to stabilize against real-world noise.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b="1" dirty="0"/>
              <a:t>Artifact-Aware Training</a:t>
            </a:r>
            <a:r>
              <a:rPr lang="en-US" sz="2400" dirty="0"/>
              <a:t>: Trained on a balanced dataset of 50,000 synthetic spectra injected with simulated experimental artifacts (baseline drifts, scatter spikes) to prevent the network from memorizing noise.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b="1" dirty="0"/>
              <a:t>Unbiased Output: </a:t>
            </a:r>
            <a:r>
              <a:rPr lang="en-US" sz="2400" dirty="0"/>
              <a:t>Bypasses human curve-fitting by calculating the mathematical probability across 21 viable kinetic models (up to 4 molecular states).</a:t>
            </a:r>
          </a:p>
        </p:txBody>
      </p:sp>
      <p:sp>
        <p:nvSpPr>
          <p:cNvPr id="65" name="TextovéPole 64">
            <a:extLst>
              <a:ext uri="{FF2B5EF4-FFF2-40B4-BE49-F238E27FC236}">
                <a16:creationId xmlns:a16="http://schemas.microsoft.com/office/drawing/2014/main" id="{D636216A-5F21-44D8-A30D-B5BCFCA6C5DE}"/>
              </a:ext>
            </a:extLst>
          </p:cNvPr>
          <p:cNvSpPr txBox="1"/>
          <p:nvPr/>
        </p:nvSpPr>
        <p:spPr>
          <a:xfrm>
            <a:off x="15572035" y="24320685"/>
            <a:ext cx="7128792" cy="3384376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lvl="1" indent="-342900">
              <a:buFontTx/>
              <a:buChar char="☼"/>
            </a:pPr>
            <a:r>
              <a:rPr lang="en-US" sz="2400" dirty="0"/>
              <a:t>CBK-H (Protonated): When fed the CBK-H data, </a:t>
            </a:r>
            <a:r>
              <a:rPr lang="en-US" sz="2400" dirty="0" err="1"/>
              <a:t>DeepSKAN</a:t>
            </a:r>
            <a:r>
              <a:rPr lang="en-US" sz="2400" dirty="0"/>
              <a:t> predicted Class 6 with a dominant 59.0% confidence.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dirty="0"/>
              <a:t>Resulting Topology: A pure sequential decay (A→B → C), exactly matching the simple sequential model.</a:t>
            </a:r>
          </a:p>
          <a:p>
            <a:pPr marL="0" lvl="1"/>
            <a:endParaRPr lang="cs-CZ" sz="2400" dirty="0"/>
          </a:p>
        </p:txBody>
      </p:sp>
      <p:sp>
        <p:nvSpPr>
          <p:cNvPr id="66" name="TextovéPole 65">
            <a:extLst>
              <a:ext uri="{FF2B5EF4-FFF2-40B4-BE49-F238E27FC236}">
                <a16:creationId xmlns:a16="http://schemas.microsoft.com/office/drawing/2014/main" id="{F24AEB28-727F-4388-8AE3-AB418F708BD9}"/>
              </a:ext>
            </a:extLst>
          </p:cNvPr>
          <p:cNvSpPr txBox="1"/>
          <p:nvPr/>
        </p:nvSpPr>
        <p:spPr>
          <a:xfrm>
            <a:off x="4055694" y="2679416"/>
            <a:ext cx="20574145" cy="1050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cs-CZ" sz="4800" b="1" dirty="0">
                <a:solidFill>
                  <a:srgbClr val="005C70"/>
                </a:solidFill>
              </a:rPr>
              <a:t>Muhammed Arshad Thottappali</a:t>
            </a:r>
            <a:r>
              <a:rPr lang="cs-CZ" sz="4800" b="1" baseline="30000" dirty="0">
                <a:solidFill>
                  <a:srgbClr val="005C70"/>
                </a:solidFill>
              </a:rPr>
              <a:t>1</a:t>
            </a:r>
          </a:p>
        </p:txBody>
      </p:sp>
      <p:sp>
        <p:nvSpPr>
          <p:cNvPr id="67" name="TextovéPole 66">
            <a:extLst>
              <a:ext uri="{FF2B5EF4-FFF2-40B4-BE49-F238E27FC236}">
                <a16:creationId xmlns:a16="http://schemas.microsoft.com/office/drawing/2014/main" id="{9676E7C9-4787-4DA1-AC78-CF1DE5C0FD5A}"/>
              </a:ext>
            </a:extLst>
          </p:cNvPr>
          <p:cNvSpPr txBox="1"/>
          <p:nvPr/>
        </p:nvSpPr>
        <p:spPr>
          <a:xfrm>
            <a:off x="4070898" y="615956"/>
            <a:ext cx="20574145" cy="2063461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/>
          <a:p>
            <a:pPr algn="ctr"/>
            <a:r>
              <a:rPr lang="en-US" sz="8000" b="1" dirty="0">
                <a:solidFill>
                  <a:srgbClr val="004454"/>
                </a:solidFill>
              </a:rPr>
              <a:t>Challenges in Interpreting Ultrafast Spectroscopy Data: A Case for Machine Learning in Materials Research</a:t>
            </a:r>
          </a:p>
        </p:txBody>
      </p:sp>
      <p:sp>
        <p:nvSpPr>
          <p:cNvPr id="68" name="TextovéPole 67">
            <a:extLst>
              <a:ext uri="{FF2B5EF4-FFF2-40B4-BE49-F238E27FC236}">
                <a16:creationId xmlns:a16="http://schemas.microsoft.com/office/drawing/2014/main" id="{B69296EC-3612-48FE-9124-94EB11D4AEE5}"/>
              </a:ext>
            </a:extLst>
          </p:cNvPr>
          <p:cNvSpPr txBox="1"/>
          <p:nvPr/>
        </p:nvSpPr>
        <p:spPr>
          <a:xfrm>
            <a:off x="4055694" y="3858099"/>
            <a:ext cx="20574145" cy="7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7000"/>
              </a:lnSpc>
            </a:pPr>
            <a:r>
              <a:rPr lang="en-US" sz="32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Institute of Macromolecular Chemistry CAS, Prague, 16200, Czech Republic.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5824D5-4594-451E-B8B5-AB64020DDEDA}"/>
              </a:ext>
            </a:extLst>
          </p:cNvPr>
          <p:cNvGrpSpPr/>
          <p:nvPr/>
        </p:nvGrpSpPr>
        <p:grpSpPr>
          <a:xfrm>
            <a:off x="9612779" y="19027998"/>
            <a:ext cx="5351743" cy="3528392"/>
            <a:chOff x="607468" y="3906254"/>
            <a:chExt cx="3382165" cy="222985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C1912A9-C7BF-49D6-9F9B-93C8992AE2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88" t="9574"/>
            <a:stretch/>
          </p:blipFill>
          <p:spPr>
            <a:xfrm>
              <a:off x="607468" y="3906254"/>
              <a:ext cx="3382165" cy="2229854"/>
            </a:xfrm>
            <a:prstGeom prst="rect">
              <a:avLst/>
            </a:prstGeom>
          </p:spPr>
        </p:pic>
        <p:pic>
          <p:nvPicPr>
            <p:cNvPr id="20" name="Picture 19" descr="A diagram of a molecule&#10;&#10;Description automatically generated">
              <a:extLst>
                <a:ext uri="{FF2B5EF4-FFF2-40B4-BE49-F238E27FC236}">
                  <a16:creationId xmlns:a16="http://schemas.microsoft.com/office/drawing/2014/main" id="{F5007C26-2FBF-4850-9C06-774DB1238B24}"/>
                </a:ext>
              </a:extLst>
            </p:cNvPr>
            <p:cNvPicPr/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0338" y="4064635"/>
              <a:ext cx="745547" cy="478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598A1F-7D27-41E8-8DBB-72E3B4120EC6}"/>
              </a:ext>
            </a:extLst>
          </p:cNvPr>
          <p:cNvGrpSpPr/>
          <p:nvPr/>
        </p:nvGrpSpPr>
        <p:grpSpPr>
          <a:xfrm>
            <a:off x="9595371" y="14203460"/>
            <a:ext cx="5346000" cy="3564000"/>
            <a:chOff x="579704" y="1644316"/>
            <a:chExt cx="3385866" cy="226193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AC57209-780C-4D1B-A9ED-6D11279B1A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23" r="50608"/>
            <a:stretch/>
          </p:blipFill>
          <p:spPr>
            <a:xfrm>
              <a:off x="579704" y="1644316"/>
              <a:ext cx="3385866" cy="2261938"/>
            </a:xfrm>
            <a:prstGeom prst="rect">
              <a:avLst/>
            </a:prstGeom>
          </p:spPr>
        </p:pic>
        <p:pic>
          <p:nvPicPr>
            <p:cNvPr id="23" name="Picture 22" descr="A diagram of a molecule&#10;&#10;Description automatically generated">
              <a:extLst>
                <a:ext uri="{FF2B5EF4-FFF2-40B4-BE49-F238E27FC236}">
                  <a16:creationId xmlns:a16="http://schemas.microsoft.com/office/drawing/2014/main" id="{ED73A4F2-5B5B-4F88-A549-CC42022B4DEE}"/>
                </a:ext>
              </a:extLst>
            </p:cNvPr>
            <p:cNvPicPr/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9848" y="1827120"/>
              <a:ext cx="755002" cy="5934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842B4F-3D35-494B-B3E8-6B1DF82A1F16}"/>
              </a:ext>
            </a:extLst>
          </p:cNvPr>
          <p:cNvGrpSpPr/>
          <p:nvPr/>
        </p:nvGrpSpPr>
        <p:grpSpPr>
          <a:xfrm>
            <a:off x="15276328" y="14347478"/>
            <a:ext cx="5264259" cy="3312368"/>
            <a:chOff x="3462888" y="1737360"/>
            <a:chExt cx="2796767" cy="1759777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A8BCDC1-0AFF-47D7-AEA1-70F794F407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22" t="22428"/>
            <a:stretch/>
          </p:blipFill>
          <p:spPr>
            <a:xfrm>
              <a:off x="3462888" y="1851217"/>
              <a:ext cx="2796767" cy="164592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66E2B8-9B7D-4251-BA14-B010EA4AA35F}"/>
                </a:ext>
              </a:extLst>
            </p:cNvPr>
            <p:cNvSpPr/>
            <p:nvPr/>
          </p:nvSpPr>
          <p:spPr>
            <a:xfrm>
              <a:off x="4495800" y="1737360"/>
              <a:ext cx="1087120" cy="88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3B3B3B"/>
                  </a:solidFill>
                  <a:latin typeface="Segoe WPC"/>
                  <a:cs typeface="Arial" panose="020B0604020202020204" pitchFamily="34" charset="0"/>
                </a:rPr>
                <a:t>CBK-H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D0231C-6754-4411-9941-98846867D471}"/>
              </a:ext>
            </a:extLst>
          </p:cNvPr>
          <p:cNvGrpSpPr/>
          <p:nvPr/>
        </p:nvGrpSpPr>
        <p:grpSpPr>
          <a:xfrm>
            <a:off x="15211995" y="19100006"/>
            <a:ext cx="5328592" cy="3343151"/>
            <a:chOff x="3383215" y="3937569"/>
            <a:chExt cx="2836799" cy="1779804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9A7A0A-DDA0-42C9-A14B-DA4246C267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20" r="49986"/>
            <a:stretch/>
          </p:blipFill>
          <p:spPr>
            <a:xfrm>
              <a:off x="3383215" y="4065341"/>
              <a:ext cx="2836799" cy="1652032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AD917F3-BE0F-4C09-9A43-52CAA87B514E}"/>
                </a:ext>
              </a:extLst>
            </p:cNvPr>
            <p:cNvSpPr/>
            <p:nvPr/>
          </p:nvSpPr>
          <p:spPr>
            <a:xfrm>
              <a:off x="4495800" y="3937569"/>
              <a:ext cx="1087120" cy="88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3B3B3B"/>
                  </a:solidFill>
                  <a:latin typeface="Segoe WPC"/>
                  <a:cs typeface="Arial" panose="020B0604020202020204" pitchFamily="34" charset="0"/>
                </a:rPr>
                <a:t>CBK-D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5A002C-2E76-4F63-9C37-45AE261E1743}"/>
              </a:ext>
            </a:extLst>
          </p:cNvPr>
          <p:cNvCxnSpPr>
            <a:cxnSpLocks/>
          </p:cNvCxnSpPr>
          <p:nvPr/>
        </p:nvCxnSpPr>
        <p:spPr>
          <a:xfrm>
            <a:off x="9379347" y="13483382"/>
            <a:ext cx="0" cy="10513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3637E5-8E35-4F77-9B36-03850601C431}"/>
              </a:ext>
            </a:extLst>
          </p:cNvPr>
          <p:cNvCxnSpPr>
            <a:cxnSpLocks/>
          </p:cNvCxnSpPr>
          <p:nvPr/>
        </p:nvCxnSpPr>
        <p:spPr>
          <a:xfrm>
            <a:off x="20684603" y="13555390"/>
            <a:ext cx="0" cy="1029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61">
            <a:extLst>
              <a:ext uri="{FF2B5EF4-FFF2-40B4-BE49-F238E27FC236}">
                <a16:creationId xmlns:a16="http://schemas.microsoft.com/office/drawing/2014/main" id="{CAFCD1D8-2087-4CB8-8035-8374F469FF8D}"/>
              </a:ext>
            </a:extLst>
          </p:cNvPr>
          <p:cNvSpPr txBox="1"/>
          <p:nvPr/>
        </p:nvSpPr>
        <p:spPr>
          <a:xfrm>
            <a:off x="20828619" y="13627398"/>
            <a:ext cx="8856984" cy="9865096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Global analysis - Model: A → B → C → GS (3 exponentials + Gaussian IRF)</a:t>
            </a: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000" b="0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000" b="0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000" b="0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000" b="0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1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defRPr sz="2000" b="0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Anomalous effect: </a:t>
            </a:r>
            <a:r>
              <a:rPr lang="el-GR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τ₁, τ₂: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excited state of Deuterium is decaying  faster.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Expected: Usually, deuterated organic molecules relax more slowly in the excited state than the normal hydrogen analogs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Traditional Global Target Analysis relies on assuming a predefined kinetic model with an exponential decays.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b="1" dirty="0">
                <a:solidFill>
                  <a:srgbClr val="C00000"/>
                </a:solidFill>
              </a:rPr>
              <a:t>The Problem: How do we confirm this 3-state exponential model is chemically accurate in both case?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7646E9F-929E-4205-81D8-7AECB0697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233829"/>
              </p:ext>
            </p:extLst>
          </p:nvPr>
        </p:nvGraphicFramePr>
        <p:xfrm>
          <a:off x="20972635" y="15571618"/>
          <a:ext cx="8522592" cy="2592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864">
                  <a:extLst>
                    <a:ext uri="{9D8B030D-6E8A-4147-A177-3AD203B41FA5}">
                      <a16:colId xmlns:a16="http://schemas.microsoft.com/office/drawing/2014/main" val="4143330140"/>
                    </a:ext>
                  </a:extLst>
                </a:gridCol>
                <a:gridCol w="2840864">
                  <a:extLst>
                    <a:ext uri="{9D8B030D-6E8A-4147-A177-3AD203B41FA5}">
                      <a16:colId xmlns:a16="http://schemas.microsoft.com/office/drawing/2014/main" val="1420222623"/>
                    </a:ext>
                  </a:extLst>
                </a:gridCol>
                <a:gridCol w="2840864">
                  <a:extLst>
                    <a:ext uri="{9D8B030D-6E8A-4147-A177-3AD203B41FA5}">
                      <a16:colId xmlns:a16="http://schemas.microsoft.com/office/drawing/2014/main" val="945634328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Component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CBK-H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CBK-D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extLst>
                  <a:ext uri="{0D108BD9-81ED-4DB2-BD59-A6C34878D82A}">
                    <a16:rowId xmlns:a16="http://schemas.microsoft.com/office/drawing/2014/main" val="202999666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el-GR" sz="2000" u="none" strike="noStrike" dirty="0">
                          <a:effectLst/>
                        </a:rPr>
                        <a:t>τ₁ (</a:t>
                      </a:r>
                      <a:r>
                        <a:rPr lang="en-US" sz="2000" u="none" strike="noStrike" dirty="0">
                          <a:effectLst/>
                        </a:rPr>
                        <a:t>A→B)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13.8 ps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9.9 ps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extLst>
                  <a:ext uri="{0D108BD9-81ED-4DB2-BD59-A6C34878D82A}">
                    <a16:rowId xmlns:a16="http://schemas.microsoft.com/office/drawing/2014/main" val="1583027879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el-GR" sz="2000" u="none" strike="noStrike">
                          <a:effectLst/>
                        </a:rPr>
                        <a:t>τ₂ (</a:t>
                      </a:r>
                      <a:r>
                        <a:rPr lang="en-US" sz="2000" u="none" strike="noStrike">
                          <a:effectLst/>
                        </a:rPr>
                        <a:t>B→C)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173.9 ps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91.8 ps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extLst>
                  <a:ext uri="{0D108BD9-81ED-4DB2-BD59-A6C34878D82A}">
                    <a16:rowId xmlns:a16="http://schemas.microsoft.com/office/drawing/2014/main" val="3524367486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el-GR" sz="2000" u="none" strike="noStrike">
                          <a:effectLst/>
                        </a:rPr>
                        <a:t>τ₃ (</a:t>
                      </a:r>
                      <a:r>
                        <a:rPr lang="en-US" sz="2000" u="none" strike="noStrike">
                          <a:effectLst/>
                        </a:rPr>
                        <a:t>C→GS)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&gt;6 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&gt;6 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317" marR="13317" marT="13317" marB="0" anchor="ctr"/>
                </a:tc>
                <a:extLst>
                  <a:ext uri="{0D108BD9-81ED-4DB2-BD59-A6C34878D82A}">
                    <a16:rowId xmlns:a16="http://schemas.microsoft.com/office/drawing/2014/main" val="1546500516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7187CD71-568D-4FE6-A5C5-B7164650A9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13578" y="809974"/>
            <a:ext cx="4900017" cy="3616307"/>
          </a:xfrm>
          <a:prstGeom prst="roundRect">
            <a:avLst>
              <a:gd name="adj" fmla="val 7695"/>
            </a:avLst>
          </a:prstGeom>
        </p:spPr>
      </p:pic>
      <p:pic>
        <p:nvPicPr>
          <p:cNvPr id="42" name="Picture 41" descr="training_curve.png">
            <a:extLst>
              <a:ext uri="{FF2B5EF4-FFF2-40B4-BE49-F238E27FC236}">
                <a16:creationId xmlns:a16="http://schemas.microsoft.com/office/drawing/2014/main" id="{D0D1D37D-D247-4F82-B677-BBC9D1B1465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24401"/>
          <a:stretch/>
        </p:blipFill>
        <p:spPr>
          <a:xfrm>
            <a:off x="1417528" y="35287396"/>
            <a:ext cx="10986155" cy="3110754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6AF8FAAD-4486-4B1B-94BE-9B7A956E6A47}"/>
              </a:ext>
            </a:extLst>
          </p:cNvPr>
          <p:cNvGrpSpPr/>
          <p:nvPr/>
        </p:nvGrpSpPr>
        <p:grpSpPr>
          <a:xfrm>
            <a:off x="13267779" y="5922542"/>
            <a:ext cx="16013301" cy="6480720"/>
            <a:chOff x="1016368" y="14347478"/>
            <a:chExt cx="15237246" cy="601871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A08201D-A78D-4BE5-8797-0A9294296E5D}"/>
                </a:ext>
              </a:extLst>
            </p:cNvPr>
            <p:cNvGrpSpPr/>
            <p:nvPr/>
          </p:nvGrpSpPr>
          <p:grpSpPr>
            <a:xfrm>
              <a:off x="1340797" y="14995550"/>
              <a:ext cx="14912817" cy="5370646"/>
              <a:chOff x="490200" y="211700"/>
              <a:chExt cx="11657686" cy="4198355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3FB4BCB-09F9-43E4-81F1-0456F683393A}"/>
                  </a:ext>
                </a:extLst>
              </p:cNvPr>
              <p:cNvGrpSpPr/>
              <p:nvPr/>
            </p:nvGrpSpPr>
            <p:grpSpPr>
              <a:xfrm>
                <a:off x="4938378" y="396240"/>
                <a:ext cx="7209508" cy="4013815"/>
                <a:chOff x="254341" y="522790"/>
                <a:chExt cx="6921866" cy="3777093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FBE0D13A-DD59-42BE-9605-407BD793B2ED}"/>
                    </a:ext>
                  </a:extLst>
                </p:cNvPr>
                <p:cNvGrpSpPr/>
                <p:nvPr/>
              </p:nvGrpSpPr>
              <p:grpSpPr>
                <a:xfrm>
                  <a:off x="658777" y="522790"/>
                  <a:ext cx="6517430" cy="3777093"/>
                  <a:chOff x="658777" y="522790"/>
                  <a:chExt cx="6517430" cy="3777093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C5D437C9-A0AB-43CF-BF29-5F497F8D5991}"/>
                      </a:ext>
                    </a:extLst>
                  </p:cNvPr>
                  <p:cNvGrpSpPr/>
                  <p:nvPr/>
                </p:nvGrpSpPr>
                <p:grpSpPr>
                  <a:xfrm>
                    <a:off x="676975" y="522790"/>
                    <a:ext cx="3129094" cy="2906210"/>
                    <a:chOff x="7230175" y="1701793"/>
                    <a:chExt cx="3129094" cy="2906210"/>
                  </a:xfrm>
                </p:grpSpPr>
                <p:cxnSp>
                  <p:nvCxnSpPr>
                    <p:cNvPr id="110" name="Straight Arrow Connector 109">
                      <a:extLst>
                        <a:ext uri="{FF2B5EF4-FFF2-40B4-BE49-F238E27FC236}">
                          <a16:creationId xmlns:a16="http://schemas.microsoft.com/office/drawing/2014/main" id="{103CC943-0750-40E7-BD1E-C1F45F7014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239699" y="1701793"/>
                      <a:ext cx="0" cy="2906210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Straight Arrow Connector 110">
                      <a:extLst>
                        <a:ext uri="{FF2B5EF4-FFF2-40B4-BE49-F238E27FC236}">
                          <a16:creationId xmlns:a16="http://schemas.microsoft.com/office/drawing/2014/main" id="{30C015B0-F3D8-4EFD-BC4B-A3C0F1E0BF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V="1">
                      <a:off x="8794722" y="3028216"/>
                      <a:ext cx="0" cy="312909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" name="Straight Arrow Connector 111">
                      <a:extLst>
                        <a:ext uri="{FF2B5EF4-FFF2-40B4-BE49-F238E27FC236}">
                          <a16:creationId xmlns:a16="http://schemas.microsoft.com/office/drawing/2014/main" id="{BFC39DC6-84CB-45C8-84E0-B53A24E0A9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V="1">
                      <a:off x="8794722" y="1717033"/>
                      <a:ext cx="0" cy="312909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3" name="Freeform: Shape 112">
                      <a:extLst>
                        <a:ext uri="{FF2B5EF4-FFF2-40B4-BE49-F238E27FC236}">
                          <a16:creationId xmlns:a16="http://schemas.microsoft.com/office/drawing/2014/main" id="{EA57FAB0-5EA0-47F2-B4D2-989615966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4165" y="3271322"/>
                      <a:ext cx="971139" cy="1073637"/>
                    </a:xfrm>
                    <a:custGeom>
                      <a:avLst/>
                      <a:gdLst>
                        <a:gd name="connsiteX0" fmla="*/ 41055 w 971139"/>
                        <a:gd name="connsiteY0" fmla="*/ 12898 h 1073637"/>
                        <a:gd name="connsiteX1" fmla="*/ 155355 w 971139"/>
                        <a:gd name="connsiteY1" fmla="*/ 104338 h 1073637"/>
                        <a:gd name="connsiteX2" fmla="*/ 284895 w 971139"/>
                        <a:gd name="connsiteY2" fmla="*/ 363418 h 1073637"/>
                        <a:gd name="connsiteX3" fmla="*/ 589695 w 971139"/>
                        <a:gd name="connsiteY3" fmla="*/ 1072078 h 1073637"/>
                        <a:gd name="connsiteX4" fmla="*/ 856395 w 971139"/>
                        <a:gd name="connsiteY4" fmla="*/ 150058 h 1073637"/>
                        <a:gd name="connsiteX5" fmla="*/ 909735 w 971139"/>
                        <a:gd name="connsiteY5" fmla="*/ 12898 h 1073637"/>
                        <a:gd name="connsiteX6" fmla="*/ 41055 w 971139"/>
                        <a:gd name="connsiteY6" fmla="*/ 12898 h 10736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1139" h="1073637">
                          <a:moveTo>
                            <a:pt x="41055" y="12898"/>
                          </a:moveTo>
                          <a:cubicBezTo>
                            <a:pt x="-84675" y="28138"/>
                            <a:pt x="114715" y="45918"/>
                            <a:pt x="155355" y="104338"/>
                          </a:cubicBezTo>
                          <a:cubicBezTo>
                            <a:pt x="195995" y="162758"/>
                            <a:pt x="212505" y="202128"/>
                            <a:pt x="284895" y="363418"/>
                          </a:cubicBezTo>
                          <a:cubicBezTo>
                            <a:pt x="357285" y="524708"/>
                            <a:pt x="494445" y="1107638"/>
                            <a:pt x="589695" y="1072078"/>
                          </a:cubicBezTo>
                          <a:cubicBezTo>
                            <a:pt x="684945" y="1036518"/>
                            <a:pt x="803055" y="326588"/>
                            <a:pt x="856395" y="150058"/>
                          </a:cubicBezTo>
                          <a:cubicBezTo>
                            <a:pt x="909735" y="-26472"/>
                            <a:pt x="1051975" y="31948"/>
                            <a:pt x="909735" y="12898"/>
                          </a:cubicBezTo>
                          <a:cubicBezTo>
                            <a:pt x="767495" y="-6152"/>
                            <a:pt x="166785" y="-2342"/>
                            <a:pt x="41055" y="12898"/>
                          </a:cubicBezTo>
                          <a:close/>
                        </a:path>
                      </a:pathLst>
                    </a:cu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4" name="Freeform: Shape 113">
                      <a:extLst>
                        <a:ext uri="{FF2B5EF4-FFF2-40B4-BE49-F238E27FC236}">
                          <a16:creationId xmlns:a16="http://schemas.microsoft.com/office/drawing/2014/main" id="{6367A6BB-5074-4E45-961B-7771190C07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0925" y="3271322"/>
                      <a:ext cx="688755" cy="761449"/>
                    </a:xfrm>
                    <a:custGeom>
                      <a:avLst/>
                      <a:gdLst>
                        <a:gd name="connsiteX0" fmla="*/ 41055 w 971139"/>
                        <a:gd name="connsiteY0" fmla="*/ 12898 h 1073637"/>
                        <a:gd name="connsiteX1" fmla="*/ 155355 w 971139"/>
                        <a:gd name="connsiteY1" fmla="*/ 104338 h 1073637"/>
                        <a:gd name="connsiteX2" fmla="*/ 284895 w 971139"/>
                        <a:gd name="connsiteY2" fmla="*/ 363418 h 1073637"/>
                        <a:gd name="connsiteX3" fmla="*/ 589695 w 971139"/>
                        <a:gd name="connsiteY3" fmla="*/ 1072078 h 1073637"/>
                        <a:gd name="connsiteX4" fmla="*/ 856395 w 971139"/>
                        <a:gd name="connsiteY4" fmla="*/ 150058 h 1073637"/>
                        <a:gd name="connsiteX5" fmla="*/ 909735 w 971139"/>
                        <a:gd name="connsiteY5" fmla="*/ 12898 h 1073637"/>
                        <a:gd name="connsiteX6" fmla="*/ 41055 w 971139"/>
                        <a:gd name="connsiteY6" fmla="*/ 12898 h 10736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1139" h="1073637">
                          <a:moveTo>
                            <a:pt x="41055" y="12898"/>
                          </a:moveTo>
                          <a:cubicBezTo>
                            <a:pt x="-84675" y="28138"/>
                            <a:pt x="114715" y="45918"/>
                            <a:pt x="155355" y="104338"/>
                          </a:cubicBezTo>
                          <a:cubicBezTo>
                            <a:pt x="195995" y="162758"/>
                            <a:pt x="212505" y="202128"/>
                            <a:pt x="284895" y="363418"/>
                          </a:cubicBezTo>
                          <a:cubicBezTo>
                            <a:pt x="357285" y="524708"/>
                            <a:pt x="494445" y="1107638"/>
                            <a:pt x="589695" y="1072078"/>
                          </a:cubicBezTo>
                          <a:cubicBezTo>
                            <a:pt x="684945" y="1036518"/>
                            <a:pt x="803055" y="326588"/>
                            <a:pt x="856395" y="150058"/>
                          </a:cubicBezTo>
                          <a:cubicBezTo>
                            <a:pt x="909735" y="-26472"/>
                            <a:pt x="1051975" y="31948"/>
                            <a:pt x="909735" y="12898"/>
                          </a:cubicBezTo>
                          <a:cubicBezTo>
                            <a:pt x="767495" y="-6152"/>
                            <a:pt x="166785" y="-2342"/>
                            <a:pt x="41055" y="12898"/>
                          </a:cubicBezTo>
                          <a:close/>
                        </a:path>
                      </a:pathLst>
                    </a:custGeom>
                    <a:solidFill>
                      <a:srgbClr val="F37F8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" name="Freeform: Shape 114">
                      <a:extLst>
                        <a:ext uri="{FF2B5EF4-FFF2-40B4-BE49-F238E27FC236}">
                          <a16:creationId xmlns:a16="http://schemas.microsoft.com/office/drawing/2014/main" id="{6A0A27D1-F559-42BA-81E1-9CC1D2D9BDE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8677703" y="2712723"/>
                      <a:ext cx="514548" cy="568855"/>
                    </a:xfrm>
                    <a:custGeom>
                      <a:avLst/>
                      <a:gdLst>
                        <a:gd name="connsiteX0" fmla="*/ 41055 w 971139"/>
                        <a:gd name="connsiteY0" fmla="*/ 12898 h 1073637"/>
                        <a:gd name="connsiteX1" fmla="*/ 155355 w 971139"/>
                        <a:gd name="connsiteY1" fmla="*/ 104338 h 1073637"/>
                        <a:gd name="connsiteX2" fmla="*/ 284895 w 971139"/>
                        <a:gd name="connsiteY2" fmla="*/ 363418 h 1073637"/>
                        <a:gd name="connsiteX3" fmla="*/ 589695 w 971139"/>
                        <a:gd name="connsiteY3" fmla="*/ 1072078 h 1073637"/>
                        <a:gd name="connsiteX4" fmla="*/ 856395 w 971139"/>
                        <a:gd name="connsiteY4" fmla="*/ 150058 h 1073637"/>
                        <a:gd name="connsiteX5" fmla="*/ 909735 w 971139"/>
                        <a:gd name="connsiteY5" fmla="*/ 12898 h 1073637"/>
                        <a:gd name="connsiteX6" fmla="*/ 41055 w 971139"/>
                        <a:gd name="connsiteY6" fmla="*/ 12898 h 10736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1139" h="1073637">
                          <a:moveTo>
                            <a:pt x="41055" y="12898"/>
                          </a:moveTo>
                          <a:cubicBezTo>
                            <a:pt x="-84675" y="28138"/>
                            <a:pt x="114715" y="45918"/>
                            <a:pt x="155355" y="104338"/>
                          </a:cubicBezTo>
                          <a:cubicBezTo>
                            <a:pt x="195995" y="162758"/>
                            <a:pt x="212505" y="202128"/>
                            <a:pt x="284895" y="363418"/>
                          </a:cubicBezTo>
                          <a:cubicBezTo>
                            <a:pt x="357285" y="524708"/>
                            <a:pt x="494445" y="1107638"/>
                            <a:pt x="589695" y="1072078"/>
                          </a:cubicBezTo>
                          <a:cubicBezTo>
                            <a:pt x="684945" y="1036518"/>
                            <a:pt x="803055" y="326588"/>
                            <a:pt x="856395" y="150058"/>
                          </a:cubicBezTo>
                          <a:cubicBezTo>
                            <a:pt x="909735" y="-26472"/>
                            <a:pt x="1051975" y="31948"/>
                            <a:pt x="909735" y="12898"/>
                          </a:cubicBezTo>
                          <a:cubicBezTo>
                            <a:pt x="767495" y="-6152"/>
                            <a:pt x="166785" y="-2342"/>
                            <a:pt x="41055" y="12898"/>
                          </a:cubicBezTo>
                          <a:close/>
                        </a:path>
                      </a:pathLst>
                    </a:cu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6" name="Freeform: Shape 115">
                      <a:extLst>
                        <a:ext uri="{FF2B5EF4-FFF2-40B4-BE49-F238E27FC236}">
                          <a16:creationId xmlns:a16="http://schemas.microsoft.com/office/drawing/2014/main" id="{0DFA801E-B90E-4211-B9A7-103A13766A8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9083248" y="2400950"/>
                      <a:ext cx="796558" cy="880630"/>
                    </a:xfrm>
                    <a:custGeom>
                      <a:avLst/>
                      <a:gdLst>
                        <a:gd name="connsiteX0" fmla="*/ 41055 w 971139"/>
                        <a:gd name="connsiteY0" fmla="*/ 12898 h 1073637"/>
                        <a:gd name="connsiteX1" fmla="*/ 155355 w 971139"/>
                        <a:gd name="connsiteY1" fmla="*/ 104338 h 1073637"/>
                        <a:gd name="connsiteX2" fmla="*/ 284895 w 971139"/>
                        <a:gd name="connsiteY2" fmla="*/ 363418 h 1073637"/>
                        <a:gd name="connsiteX3" fmla="*/ 589695 w 971139"/>
                        <a:gd name="connsiteY3" fmla="*/ 1072078 h 1073637"/>
                        <a:gd name="connsiteX4" fmla="*/ 856395 w 971139"/>
                        <a:gd name="connsiteY4" fmla="*/ 150058 h 1073637"/>
                        <a:gd name="connsiteX5" fmla="*/ 909735 w 971139"/>
                        <a:gd name="connsiteY5" fmla="*/ 12898 h 1073637"/>
                        <a:gd name="connsiteX6" fmla="*/ 41055 w 971139"/>
                        <a:gd name="connsiteY6" fmla="*/ 12898 h 10736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1139" h="1073637">
                          <a:moveTo>
                            <a:pt x="41055" y="12898"/>
                          </a:moveTo>
                          <a:cubicBezTo>
                            <a:pt x="-84675" y="28138"/>
                            <a:pt x="114715" y="45918"/>
                            <a:pt x="155355" y="104338"/>
                          </a:cubicBezTo>
                          <a:cubicBezTo>
                            <a:pt x="195995" y="162758"/>
                            <a:pt x="212505" y="202128"/>
                            <a:pt x="284895" y="363418"/>
                          </a:cubicBezTo>
                          <a:cubicBezTo>
                            <a:pt x="357285" y="524708"/>
                            <a:pt x="494445" y="1107638"/>
                            <a:pt x="589695" y="1072078"/>
                          </a:cubicBezTo>
                          <a:cubicBezTo>
                            <a:pt x="684945" y="1036518"/>
                            <a:pt x="803055" y="326588"/>
                            <a:pt x="856395" y="150058"/>
                          </a:cubicBezTo>
                          <a:cubicBezTo>
                            <a:pt x="909735" y="-26472"/>
                            <a:pt x="1051975" y="31948"/>
                            <a:pt x="909735" y="12898"/>
                          </a:cubicBezTo>
                          <a:cubicBezTo>
                            <a:pt x="767495" y="-6152"/>
                            <a:pt x="166785" y="-2342"/>
                            <a:pt x="41055" y="12898"/>
                          </a:cubicBezTo>
                          <a:close/>
                        </a:path>
                      </a:pathLst>
                    </a:custGeom>
                    <a:solidFill>
                      <a:srgbClr val="7030A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D28A8EF6-0D64-48B7-A021-620E846BB8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1357" y="3462988"/>
                      <a:ext cx="387460" cy="22081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GSB</a:t>
                      </a:r>
                    </a:p>
                  </p:txBody>
                </p:sp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86B41CB5-3BAF-4ED9-8DB2-F5206DDEE7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07904" y="3379644"/>
                      <a:ext cx="279362" cy="2264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</a:t>
                      </a:r>
                    </a:p>
                  </p:txBody>
                </p:sp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28C0BC22-B70D-4638-9405-AFD7FCE4BE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7804" y="2924379"/>
                      <a:ext cx="475653" cy="33122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ESA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Triplet</a:t>
                      </a:r>
                    </a:p>
                  </p:txBody>
                </p:sp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8315822A-D1DC-4851-9DF2-C9DA55A6A1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55151" y="2752521"/>
                      <a:ext cx="568165" cy="3753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ESA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Singlet</a:t>
                      </a:r>
                    </a:p>
                  </p:txBody>
                </p:sp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62C7DA2D-B9CC-4BF6-8615-ED0EB7A56AAD}"/>
                      </a:ext>
                    </a:extLst>
                  </p:cNvPr>
                  <p:cNvGrpSpPr/>
                  <p:nvPr/>
                </p:nvGrpSpPr>
                <p:grpSpPr>
                  <a:xfrm>
                    <a:off x="4232659" y="953760"/>
                    <a:ext cx="2943548" cy="2281437"/>
                    <a:chOff x="4063341" y="4157463"/>
                    <a:chExt cx="2943548" cy="2281437"/>
                  </a:xfrm>
                </p:grpSpPr>
                <p:cxnSp>
                  <p:nvCxnSpPr>
                    <p:cNvPr id="72" name="Straight Connector 71">
                      <a:extLst>
                        <a:ext uri="{FF2B5EF4-FFF2-40B4-BE49-F238E27FC236}">
                          <a16:creationId xmlns:a16="http://schemas.microsoft.com/office/drawing/2014/main" id="{F6C2CFF2-209C-4B56-9999-4638479F667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251960" y="6438900"/>
                      <a:ext cx="1242060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Connector 72">
                      <a:extLst>
                        <a:ext uri="{FF2B5EF4-FFF2-40B4-BE49-F238E27FC236}">
                          <a16:creationId xmlns:a16="http://schemas.microsoft.com/office/drawing/2014/main" id="{C0CA710B-E5B7-49A0-B385-96B92089CE6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251960" y="5099050"/>
                      <a:ext cx="1242060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F29D647C-0CC7-436D-BBE4-B26F9FEBDAE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639000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8C3B06DE-81D5-44B8-8B6D-F490DE3552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634428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Straight Connector 75">
                      <a:extLst>
                        <a:ext uri="{FF2B5EF4-FFF2-40B4-BE49-F238E27FC236}">
                          <a16:creationId xmlns:a16="http://schemas.microsoft.com/office/drawing/2014/main" id="{3249B444-8C99-42D0-9FF9-3F17F26F9A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629539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Connector 76">
                      <a:extLst>
                        <a:ext uri="{FF2B5EF4-FFF2-40B4-BE49-F238E27FC236}">
                          <a16:creationId xmlns:a16="http://schemas.microsoft.com/office/drawing/2014/main" id="{515EE05D-3EC7-4AC6-8B6F-62CF4F9B78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624840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Connector 77">
                      <a:extLst>
                        <a:ext uri="{FF2B5EF4-FFF2-40B4-BE49-F238E27FC236}">
                          <a16:creationId xmlns:a16="http://schemas.microsoft.com/office/drawing/2014/main" id="{53572070-8A13-49CE-976A-4E0D84A1CF3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505015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Straight Connector 78">
                      <a:extLst>
                        <a:ext uri="{FF2B5EF4-FFF2-40B4-BE49-F238E27FC236}">
                          <a16:creationId xmlns:a16="http://schemas.microsoft.com/office/drawing/2014/main" id="{D5B392B8-42A0-420D-80DF-41FE2228CA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500443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Straight Connector 79">
                      <a:extLst>
                        <a:ext uri="{FF2B5EF4-FFF2-40B4-BE49-F238E27FC236}">
                          <a16:creationId xmlns:a16="http://schemas.microsoft.com/office/drawing/2014/main" id="{4D56825F-E17F-4192-863C-5CE0276408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495554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Straight Connector 80">
                      <a:extLst>
                        <a:ext uri="{FF2B5EF4-FFF2-40B4-BE49-F238E27FC236}">
                          <a16:creationId xmlns:a16="http://schemas.microsoft.com/office/drawing/2014/main" id="{5CC94D5C-979B-4086-B6C9-EA190607A3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490855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Straight Connector 81">
                      <a:extLst>
                        <a:ext uri="{FF2B5EF4-FFF2-40B4-BE49-F238E27FC236}">
                          <a16:creationId xmlns:a16="http://schemas.microsoft.com/office/drawing/2014/main" id="{E1AC45BA-A60F-4EC6-B01B-F39B486A2A9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251960" y="4448175"/>
                      <a:ext cx="1242060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DEAFAB14-BF54-45CE-8FA8-3C4882C57E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439928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>
                      <a:extLst>
                        <a:ext uri="{FF2B5EF4-FFF2-40B4-BE49-F238E27FC236}">
                          <a16:creationId xmlns:a16="http://schemas.microsoft.com/office/drawing/2014/main" id="{CB93E49B-5CDD-4EA4-9896-F7C8651B85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435356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3A12333D-5D84-4204-A6CB-387CCD61BA3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430466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9D1BBA26-CBD8-4372-9317-8378F72C3F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880" y="425767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Straight Arrow Connector 86">
                      <a:extLst>
                        <a:ext uri="{FF2B5EF4-FFF2-40B4-BE49-F238E27FC236}">
                          <a16:creationId xmlns:a16="http://schemas.microsoft.com/office/drawing/2014/main" id="{621B74D5-3D23-4AB9-94E1-E2BFCB9AC0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88725" y="4998501"/>
                      <a:ext cx="0" cy="1440399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Straight Arrow Connector 87">
                      <a:extLst>
                        <a:ext uri="{FF2B5EF4-FFF2-40B4-BE49-F238E27FC236}">
                          <a16:creationId xmlns:a16="http://schemas.microsoft.com/office/drawing/2014/main" id="{AE9D78E5-AE59-4FC8-9EB6-CCE8E12EB9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660175" y="4304667"/>
                      <a:ext cx="0" cy="794383"/>
                    </a:xfrm>
                    <a:prstGeom prst="straightConnector1">
                      <a:avLst/>
                    </a:prstGeom>
                    <a:ln w="38100">
                      <a:solidFill>
                        <a:srgbClr val="7030A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A68D64D3-64AF-427F-BD98-D09262DB13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3105" y="6147316"/>
                      <a:ext cx="293799" cy="2716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800" dirty="0"/>
                        <a:t>S</a:t>
                      </a:r>
                      <a:r>
                        <a:rPr lang="en-US" sz="1800" baseline="-25000" dirty="0"/>
                        <a:t>0</a:t>
                      </a:r>
                    </a:p>
                  </p:txBody>
                </p:sp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95FF250E-6616-49C1-98EE-6C9848EB14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3105" y="4808001"/>
                      <a:ext cx="293799" cy="2716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800" dirty="0"/>
                        <a:t>S</a:t>
                      </a:r>
                      <a:r>
                        <a:rPr lang="en-US" sz="1800" baseline="-25000" dirty="0"/>
                        <a:t>1</a:t>
                      </a:r>
                    </a:p>
                  </p:txBody>
                </p:sp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FB714CE9-51B9-43FF-B963-CD01DC1547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3105" y="4157463"/>
                      <a:ext cx="296206" cy="2716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800" dirty="0"/>
                        <a:t>S</a:t>
                      </a:r>
                      <a:r>
                        <a:rPr lang="en-US" sz="1800" baseline="-25000" dirty="0"/>
                        <a:t>n</a:t>
                      </a:r>
                    </a:p>
                  </p:txBody>
                </p:sp>
                <p:cxnSp>
                  <p:nvCxnSpPr>
                    <p:cNvPr id="92" name="Straight Arrow Connector 91">
                      <a:extLst>
                        <a:ext uri="{FF2B5EF4-FFF2-40B4-BE49-F238E27FC236}">
                          <a16:creationId xmlns:a16="http://schemas.microsoft.com/office/drawing/2014/main" id="{CBDEFA52-8CAC-4FE0-9995-9174193829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72990" y="5099050"/>
                      <a:ext cx="0" cy="1245235"/>
                    </a:xfrm>
                    <a:prstGeom prst="straightConnector1">
                      <a:avLst/>
                    </a:prstGeom>
                    <a:ln w="38100">
                      <a:solidFill>
                        <a:srgbClr val="F37F8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>
                      <a:extLst>
                        <a:ext uri="{FF2B5EF4-FFF2-40B4-BE49-F238E27FC236}">
                          <a16:creationId xmlns:a16="http://schemas.microsoft.com/office/drawing/2014/main" id="{2786A093-EB90-46E6-B455-BAF41B67CE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737860" y="5732451"/>
                      <a:ext cx="1242060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FC638D9F-E1AC-4F91-AB58-596E6F9B957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737860" y="4908550"/>
                      <a:ext cx="1242060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952D840C-98B9-481B-90EB-73D0F04869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567880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528C52E5-6FFF-4966-971C-460C5D2E55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563308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425FFE9F-19A3-48F4-919D-F6EFF4C0F5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558419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>
                      <a:extLst>
                        <a:ext uri="{FF2B5EF4-FFF2-40B4-BE49-F238E27FC236}">
                          <a16:creationId xmlns:a16="http://schemas.microsoft.com/office/drawing/2014/main" id="{C909D394-DC39-4FFD-9F5B-29B1206ED8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553720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>
                      <a:extLst>
                        <a:ext uri="{FF2B5EF4-FFF2-40B4-BE49-F238E27FC236}">
                          <a16:creationId xmlns:a16="http://schemas.microsoft.com/office/drawing/2014/main" id="{43FE514D-2E7D-49AD-9FA3-4C61ACFED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485965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Straight Connector 99">
                      <a:extLst>
                        <a:ext uri="{FF2B5EF4-FFF2-40B4-BE49-F238E27FC236}">
                          <a16:creationId xmlns:a16="http://schemas.microsoft.com/office/drawing/2014/main" id="{39C3E28C-4155-4959-AF83-A92FF9A9B3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4813935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FA27CFBE-BF69-4B97-8A93-B0CEF274850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476504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DF71D2AE-BDA8-4D35-B460-80D9FA58B4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2320" y="4718050"/>
                      <a:ext cx="716280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058D92A3-0BC8-44FB-98EE-959A43A0A3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15496" y="4618163"/>
                      <a:ext cx="278736" cy="2716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800" dirty="0"/>
                        <a:t>T</a:t>
                      </a:r>
                      <a:r>
                        <a:rPr lang="en-US" sz="1800" baseline="-25000" dirty="0"/>
                        <a:t>n</a:t>
                      </a:r>
                    </a:p>
                  </p:txBody>
                </p:sp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8EDA41A-8339-4DA5-9E6E-83D77033C0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15496" y="5430301"/>
                      <a:ext cx="291393" cy="2716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800" dirty="0"/>
                        <a:t>T</a:t>
                      </a:r>
                      <a:r>
                        <a:rPr lang="en-US" sz="1800" baseline="-25000" dirty="0"/>
                        <a:t>1</a:t>
                      </a:r>
                    </a:p>
                  </p:txBody>
                </p:sp>
                <p:cxnSp>
                  <p:nvCxnSpPr>
                    <p:cNvPr id="105" name="Straight Arrow Connector 104">
                      <a:extLst>
                        <a:ext uri="{FF2B5EF4-FFF2-40B4-BE49-F238E27FC236}">
                          <a16:creationId xmlns:a16="http://schemas.microsoft.com/office/drawing/2014/main" id="{60DA733D-05F1-4268-AD05-5B769AE8BD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096000" y="4808001"/>
                      <a:ext cx="0" cy="924451"/>
                    </a:xfrm>
                    <a:prstGeom prst="straightConnector1">
                      <a:avLst/>
                    </a:prstGeom>
                    <a:ln w="38100">
                      <a:solidFill>
                        <a:srgbClr val="70AD47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EB2C9D96-DF6F-45EE-AFEF-ED4CAEDD7D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7385" y="5642203"/>
                      <a:ext cx="359969" cy="20376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b="1" dirty="0">
                          <a:solidFill>
                            <a:srgbClr val="4472C4"/>
                          </a:solidFill>
                        </a:rPr>
                        <a:t>GSB</a:t>
                      </a:r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9814A048-6658-4DD7-AF2A-BCA927EB44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4008" y="5642203"/>
                      <a:ext cx="286581" cy="2264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>
                          <a:solidFill>
                            <a:srgbClr val="F37F80"/>
                          </a:solidFill>
                        </a:rPr>
                        <a:t>SE</a:t>
                      </a:r>
                    </a:p>
                  </p:txBody>
                </p:sp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94A6862E-2060-4D08-A2E0-A8B72C63DE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63341" y="4506305"/>
                      <a:ext cx="582545" cy="38489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7030A0"/>
                          </a:solidFill>
                        </a:rPr>
                        <a:t>ESA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rgbClr val="7030A0"/>
                          </a:solidFill>
                        </a:rPr>
                        <a:t>Singlet</a:t>
                      </a:r>
                    </a:p>
                  </p:txBody>
                </p:sp>
                <p:sp>
                  <p:nvSpPr>
                    <p:cNvPr id="109" name="TextBox 108">
                      <a:extLst>
                        <a:ext uri="{FF2B5EF4-FFF2-40B4-BE49-F238E27FC236}">
                          <a16:creationId xmlns:a16="http://schemas.microsoft.com/office/drawing/2014/main" id="{0D39CAF1-60FD-4A41-87FE-14F8F1CFA1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22540" y="5075506"/>
                      <a:ext cx="548858" cy="38489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70AD47"/>
                          </a:solidFill>
                        </a:rPr>
                        <a:t>ESA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rgbClr val="70AD47"/>
                          </a:solidFill>
                        </a:rPr>
                        <a:t>Triplet</a:t>
                      </a:r>
                    </a:p>
                  </p:txBody>
                </p:sp>
              </p:grp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04AAB896-1B8C-4868-97CC-BC9AB47058BD}"/>
                      </a:ext>
                    </a:extLst>
                  </p:cNvPr>
                  <p:cNvSpPr txBox="1"/>
                  <p:nvPr/>
                </p:nvSpPr>
                <p:spPr>
                  <a:xfrm>
                    <a:off x="658777" y="3990739"/>
                    <a:ext cx="6331140" cy="3091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200" dirty="0"/>
                      <a:t>Spectral features observed in transient absorption spectroscopy.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B1144A09-6123-4CFB-A478-345E401C8CE6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536901" y="1673205"/>
                      <a:ext cx="1928980" cy="34649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∆</m:t>
                          </m:r>
                          <m:r>
                            <a:rPr lang="en-US" sz="2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Absorbance</a:t>
                      </a:r>
                    </a:p>
                  </p:txBody>
                </p:sp>
              </mc:Choice>
              <mc:Fallback xmlns="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12EFB40-FDED-41FB-8DD9-A0F60EAED8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536901" y="1673205"/>
                      <a:ext cx="1928980" cy="34649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9211" r="-30263" b="-9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855E970-4FB6-4724-BBEC-C7ABF30AC79D}"/>
                    </a:ext>
                  </a:extLst>
                </p:cNvPr>
                <p:cNvSpPr txBox="1"/>
                <p:nvPr/>
              </p:nvSpPr>
              <p:spPr>
                <a:xfrm>
                  <a:off x="1002453" y="3494314"/>
                  <a:ext cx="2088232" cy="339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Wavelength</a:t>
                  </a: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3B240A0-DF89-41C9-BFFB-2583F2006642}"/>
                  </a:ext>
                </a:extLst>
              </p:cNvPr>
              <p:cNvGrpSpPr/>
              <p:nvPr/>
            </p:nvGrpSpPr>
            <p:grpSpPr>
              <a:xfrm>
                <a:off x="490200" y="211700"/>
                <a:ext cx="4540589" cy="4175055"/>
                <a:chOff x="7597000" y="-10795"/>
                <a:chExt cx="4540589" cy="4175055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45BC1CDF-4894-4394-BC57-096084997FBA}"/>
                    </a:ext>
                  </a:extLst>
                </p:cNvPr>
                <p:cNvGrpSpPr/>
                <p:nvPr/>
              </p:nvGrpSpPr>
              <p:grpSpPr>
                <a:xfrm>
                  <a:off x="7597000" y="-10795"/>
                  <a:ext cx="4540589" cy="4175055"/>
                  <a:chOff x="7597000" y="-10795"/>
                  <a:chExt cx="4540589" cy="4175055"/>
                </a:xfrm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AAD68309-0EDB-420A-B39D-B05861661860}"/>
                      </a:ext>
                    </a:extLst>
                  </p:cNvPr>
                  <p:cNvGrpSpPr/>
                  <p:nvPr/>
                </p:nvGrpSpPr>
                <p:grpSpPr>
                  <a:xfrm>
                    <a:off x="7597000" y="-10795"/>
                    <a:ext cx="4540589" cy="4175055"/>
                    <a:chOff x="1415480" y="2302704"/>
                    <a:chExt cx="4540589" cy="4175055"/>
                  </a:xfrm>
                </p:grpSpPr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622DD7F5-3293-440A-8D31-13163DF964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91843" y="6164937"/>
                      <a:ext cx="4464226" cy="3128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200" dirty="0"/>
                        <a:t>Pump-probe experimental arrangement.</a:t>
                      </a:r>
                    </a:p>
                  </p:txBody>
                </p:sp>
                <p:pic>
                  <p:nvPicPr>
                    <p:cNvPr id="57" name="Picture 56">
                      <a:extLst>
                        <a:ext uri="{FF2B5EF4-FFF2-40B4-BE49-F238E27FC236}">
                          <a16:creationId xmlns:a16="http://schemas.microsoft.com/office/drawing/2014/main" id="{5A0CC7AB-963B-4445-9EF8-E05E770EF92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3918" r="3918"/>
                    <a:stretch/>
                  </p:blipFill>
                  <p:spPr>
                    <a:xfrm>
                      <a:off x="1415480" y="2302704"/>
                      <a:ext cx="4292678" cy="3136605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1F3EA367-E110-477D-94BB-AC8790998AE5}"/>
                      </a:ext>
                    </a:extLst>
                  </p:cNvPr>
                  <p:cNvSpPr/>
                  <p:nvPr/>
                </p:nvSpPr>
                <p:spPr>
                  <a:xfrm>
                    <a:off x="7601041" y="100013"/>
                    <a:ext cx="209459" cy="2619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F2C2FF39-BDDB-4D9F-8EAA-F69AB6F3729F}"/>
                    </a:ext>
                  </a:extLst>
                </p:cNvPr>
                <p:cNvSpPr/>
                <p:nvPr/>
              </p:nvSpPr>
              <p:spPr>
                <a:xfrm>
                  <a:off x="11336880" y="1120872"/>
                  <a:ext cx="655095" cy="1940608"/>
                </a:xfrm>
                <a:custGeom>
                  <a:avLst/>
                  <a:gdLst>
                    <a:gd name="connsiteX0" fmla="*/ 512220 w 655095"/>
                    <a:gd name="connsiteY0" fmla="*/ 149128 h 1940608"/>
                    <a:gd name="connsiteX1" fmla="*/ 48670 w 655095"/>
                    <a:gd name="connsiteY1" fmla="*/ 412653 h 1940608"/>
                    <a:gd name="connsiteX2" fmla="*/ 48670 w 655095"/>
                    <a:gd name="connsiteY2" fmla="*/ 476153 h 1940608"/>
                    <a:gd name="connsiteX3" fmla="*/ 39145 w 655095"/>
                    <a:gd name="connsiteY3" fmla="*/ 1590578 h 1940608"/>
                    <a:gd name="connsiteX4" fmla="*/ 604295 w 655095"/>
                    <a:gd name="connsiteY4" fmla="*/ 1844578 h 1940608"/>
                    <a:gd name="connsiteX5" fmla="*/ 616995 w 655095"/>
                    <a:gd name="connsiteY5" fmla="*/ 130078 h 1940608"/>
                    <a:gd name="connsiteX6" fmla="*/ 512220 w 655095"/>
                    <a:gd name="connsiteY6" fmla="*/ 149128 h 1940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5095" h="1940608">
                      <a:moveTo>
                        <a:pt x="512220" y="149128"/>
                      </a:moveTo>
                      <a:cubicBezTo>
                        <a:pt x="417499" y="196224"/>
                        <a:pt x="125928" y="358149"/>
                        <a:pt x="48670" y="412653"/>
                      </a:cubicBezTo>
                      <a:cubicBezTo>
                        <a:pt x="-28588" y="467157"/>
                        <a:pt x="50257" y="279832"/>
                        <a:pt x="48670" y="476153"/>
                      </a:cubicBezTo>
                      <a:cubicBezTo>
                        <a:pt x="47083" y="672474"/>
                        <a:pt x="-53459" y="1362507"/>
                        <a:pt x="39145" y="1590578"/>
                      </a:cubicBezTo>
                      <a:cubicBezTo>
                        <a:pt x="131749" y="1818649"/>
                        <a:pt x="507987" y="2087995"/>
                        <a:pt x="604295" y="1844578"/>
                      </a:cubicBezTo>
                      <a:cubicBezTo>
                        <a:pt x="700603" y="1601161"/>
                        <a:pt x="633399" y="410007"/>
                        <a:pt x="616995" y="130078"/>
                      </a:cubicBezTo>
                      <a:cubicBezTo>
                        <a:pt x="600591" y="-149851"/>
                        <a:pt x="606941" y="102032"/>
                        <a:pt x="512220" y="14912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5D2B50E-80D4-42B9-A370-CDDD8A8FCDE2}"/>
                </a:ext>
              </a:extLst>
            </p:cNvPr>
            <p:cNvSpPr/>
            <p:nvPr/>
          </p:nvSpPr>
          <p:spPr>
            <a:xfrm>
              <a:off x="1016368" y="14347478"/>
              <a:ext cx="15138400" cy="543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3200" b="1" dirty="0">
                  <a:solidFill>
                    <a:srgbClr val="005C70"/>
                  </a:solidFill>
                </a:rPr>
                <a:t>Experiment </a:t>
              </a:r>
              <a:r>
                <a:rPr lang="cs-CZ" sz="3200" b="1" dirty="0">
                  <a:solidFill>
                    <a:srgbClr val="005C70"/>
                  </a:solidFill>
                </a:rPr>
                <a:t>-</a:t>
              </a:r>
              <a:r>
                <a:rPr lang="en-US" sz="3200" b="1" dirty="0">
                  <a:solidFill>
                    <a:srgbClr val="005C70"/>
                  </a:solidFill>
                </a:rPr>
                <a:t> transient optical absorption spectroscopy</a:t>
              </a:r>
            </a:p>
          </p:txBody>
        </p:sp>
      </p:grpSp>
      <p:sp>
        <p:nvSpPr>
          <p:cNvPr id="121" name="Zaoblený obdélník 23">
            <a:extLst>
              <a:ext uri="{FF2B5EF4-FFF2-40B4-BE49-F238E27FC236}">
                <a16:creationId xmlns:a16="http://schemas.microsoft.com/office/drawing/2014/main" id="{074445CA-A756-430F-B809-8F5937F62F48}"/>
              </a:ext>
            </a:extLst>
          </p:cNvPr>
          <p:cNvSpPr/>
          <p:nvPr/>
        </p:nvSpPr>
        <p:spPr>
          <a:xfrm>
            <a:off x="574203" y="4734510"/>
            <a:ext cx="29146705" cy="900000"/>
          </a:xfrm>
          <a:prstGeom prst="roundRect">
            <a:avLst>
              <a:gd name="adj" fmla="val 21759"/>
            </a:avLst>
          </a:prstGeom>
          <a:solidFill>
            <a:srgbClr val="005C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b="1" spc="100" dirty="0" err="1">
                <a:solidFill>
                  <a:srgbClr val="FFFFFF"/>
                </a:solidFill>
              </a:rPr>
              <a:t>Introduction</a:t>
            </a:r>
            <a:endParaRPr lang="cs-CZ" sz="2401" b="1" spc="100" dirty="0">
              <a:solidFill>
                <a:srgbClr val="FFFFFF"/>
              </a:solidFill>
            </a:endParaRPr>
          </a:p>
        </p:txBody>
      </p:sp>
      <p:sp>
        <p:nvSpPr>
          <p:cNvPr id="123" name="TextovéPole 61">
            <a:extLst>
              <a:ext uri="{FF2B5EF4-FFF2-40B4-BE49-F238E27FC236}">
                <a16:creationId xmlns:a16="http://schemas.microsoft.com/office/drawing/2014/main" id="{C6838BB8-93D7-474E-B77D-E9EA28A4A467}"/>
              </a:ext>
            </a:extLst>
          </p:cNvPr>
          <p:cNvSpPr txBox="1"/>
          <p:nvPr/>
        </p:nvSpPr>
        <p:spPr>
          <a:xfrm>
            <a:off x="666379" y="5850534"/>
            <a:ext cx="11233248" cy="6696744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Transient Absorption (TA) spectroscopy probes photo-induced dynamics on femtosecond-nanosecond timescales.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Uncovering Mechanisms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It is considered one of the most powerful methods for elucidating the mechanisms of excited state dynamics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Determining Kinetic Models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A primary use of the technique is to determine the underlying kinetic model, which explains exactly how a molecular system evolves, relaxes, or transitions between states after absorbing light</a:t>
            </a:r>
          </a:p>
          <a:p>
            <a:pPr marL="342900" lvl="1" indent="-342900" defTabSz="4172792">
              <a:lnSpc>
                <a:spcPct val="150000"/>
              </a:lnSpc>
              <a:spcBef>
                <a:spcPct val="2000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Ø"/>
              <a:defRPr sz="2000" b="0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Driving Technological Innovation: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Due to its wide applicability, it is a crucial tool for characterizing and developing new materials for fields such as organic electronics, solar cell applications, data storage, medicine, etc.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DA84E1-ADAB-4E17-9C74-9B51557485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13672" y="31470972"/>
            <a:ext cx="8208912" cy="34986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A4798A-C15F-4BC5-BC1F-B4BB0BA54FB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72035" y="31010038"/>
            <a:ext cx="6408712" cy="2916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47E5B8-DCA3-4B6E-BFA3-96693DB4E90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628819" y="30938030"/>
            <a:ext cx="6492776" cy="2995624"/>
          </a:xfrm>
          <a:prstGeom prst="rect">
            <a:avLst/>
          </a:prstGeom>
        </p:spPr>
      </p:pic>
      <p:sp>
        <p:nvSpPr>
          <p:cNvPr id="126" name="TextovéPole 64">
            <a:extLst>
              <a:ext uri="{FF2B5EF4-FFF2-40B4-BE49-F238E27FC236}">
                <a16:creationId xmlns:a16="http://schemas.microsoft.com/office/drawing/2014/main" id="{B3883618-F7CC-4FD9-9E35-A581C9928E04}"/>
              </a:ext>
            </a:extLst>
          </p:cNvPr>
          <p:cNvSpPr txBox="1"/>
          <p:nvPr/>
        </p:nvSpPr>
        <p:spPr>
          <a:xfrm>
            <a:off x="22628819" y="24320685"/>
            <a:ext cx="7128792" cy="4320480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lvl="1" indent="-342900">
              <a:buFontTx/>
              <a:buChar char="☼"/>
            </a:pPr>
            <a:r>
              <a:rPr lang="en-US" sz="2400" dirty="0"/>
              <a:t>CBK-D (Deuterated): When fed the CBK-D data, the network detected completely different visual patterns. The highest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dirty="0"/>
              <a:t>Prediction was Class 19 (40.3% confidence), with other branched models (Class 8, Class 17) making up the rest. Resulting Topology: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dirty="0"/>
              <a:t>A complex branched pathway where state B splits into multiple decay routes.</a:t>
            </a:r>
            <a:endParaRPr lang="cs-CZ" sz="2400" dirty="0"/>
          </a:p>
        </p:txBody>
      </p:sp>
      <p:sp>
        <p:nvSpPr>
          <p:cNvPr id="127" name="Zaoblený obdélník 23">
            <a:extLst>
              <a:ext uri="{FF2B5EF4-FFF2-40B4-BE49-F238E27FC236}">
                <a16:creationId xmlns:a16="http://schemas.microsoft.com/office/drawing/2014/main" id="{11BBF0BD-725A-4833-8E5A-E908EA8F37D9}"/>
              </a:ext>
            </a:extLst>
          </p:cNvPr>
          <p:cNvSpPr/>
          <p:nvPr/>
        </p:nvSpPr>
        <p:spPr>
          <a:xfrm>
            <a:off x="15357609" y="34293694"/>
            <a:ext cx="14400002" cy="900000"/>
          </a:xfrm>
          <a:prstGeom prst="roundRect">
            <a:avLst>
              <a:gd name="adj" fmla="val 21759"/>
            </a:avLst>
          </a:prstGeom>
          <a:solidFill>
            <a:srgbClr val="005C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100" dirty="0">
                <a:solidFill>
                  <a:srgbClr val="FFFFFF"/>
                </a:solidFill>
              </a:rPr>
              <a:t>Conclusion</a:t>
            </a:r>
            <a:endParaRPr lang="cs-CZ" sz="2401" b="1" spc="100" dirty="0">
              <a:solidFill>
                <a:srgbClr val="FFFFFF"/>
              </a:solidFill>
            </a:endParaRPr>
          </a:p>
        </p:txBody>
      </p:sp>
      <p:sp>
        <p:nvSpPr>
          <p:cNvPr id="132" name="TextovéPole 64">
            <a:extLst>
              <a:ext uri="{FF2B5EF4-FFF2-40B4-BE49-F238E27FC236}">
                <a16:creationId xmlns:a16="http://schemas.microsoft.com/office/drawing/2014/main" id="{BCAE674E-7756-4437-90F0-9BFB8CFAE75B}"/>
              </a:ext>
            </a:extLst>
          </p:cNvPr>
          <p:cNvSpPr txBox="1"/>
          <p:nvPr/>
        </p:nvSpPr>
        <p:spPr>
          <a:xfrm>
            <a:off x="15572035" y="35301806"/>
            <a:ext cx="14113568" cy="3240360"/>
          </a:xfrm>
          <a:prstGeom prst="rect">
            <a:avLst/>
          </a:prstGeom>
          <a:noFill/>
        </p:spPr>
        <p:txBody>
          <a:bodyPr wrap="square" lIns="252000" tIns="215999" rIns="252000" bIns="215999" rtlCol="0">
            <a:noAutofit/>
          </a:bodyPr>
          <a:lstStyle/>
          <a:p>
            <a:pPr marL="342900" lvl="1" indent="-342900">
              <a:buFontTx/>
              <a:buChar char="☼"/>
            </a:pPr>
            <a:r>
              <a:rPr lang="en-US" sz="2400" dirty="0" err="1"/>
              <a:t>DeepSKAN</a:t>
            </a:r>
            <a:r>
              <a:rPr lang="en-US" sz="2400" dirty="0"/>
              <a:t> predicts that Deuteration might not simply slow down the reaction; it possibly  alters the topological mechanism from sequential to branched.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dirty="0"/>
              <a:t>The 'Anomalous behavior' observed in the traditional analysis is likely an artifact of forcing an incorrect model. </a:t>
            </a:r>
          </a:p>
          <a:p>
            <a:pPr marL="342900" lvl="1" indent="-342900">
              <a:buFontTx/>
              <a:buChar char="☼"/>
            </a:pPr>
            <a:endParaRPr lang="en-US" sz="2400" dirty="0"/>
          </a:p>
          <a:p>
            <a:pPr marL="342900" lvl="1" indent="-342900">
              <a:buFontTx/>
              <a:buChar char="☼"/>
            </a:pPr>
            <a:r>
              <a:rPr lang="en-US" sz="2400" dirty="0"/>
              <a:t>It provides a possible decay pathway which can be explored for a better understanding of excited state dynamics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77858E0-A0E3-46C5-A03D-F33A3F922167}"/>
              </a:ext>
            </a:extLst>
          </p:cNvPr>
          <p:cNvGrpSpPr/>
          <p:nvPr/>
        </p:nvGrpSpPr>
        <p:grpSpPr>
          <a:xfrm>
            <a:off x="15860067" y="27524942"/>
            <a:ext cx="3168352" cy="3231686"/>
            <a:chOff x="5863431" y="1513291"/>
            <a:chExt cx="1794933" cy="1830813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93090639-9794-40AC-8271-0BBE525F4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3431" y="1549171"/>
              <a:ext cx="1794933" cy="1794933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ED4B322-AAB8-40DC-A852-E0D658D90584}"/>
                </a:ext>
              </a:extLst>
            </p:cNvPr>
            <p:cNvSpPr txBox="1"/>
            <p:nvPr/>
          </p:nvSpPr>
          <p:spPr>
            <a:xfrm>
              <a:off x="6026607" y="1513291"/>
              <a:ext cx="1548597" cy="1917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Predicted kinetic model - H</a:t>
              </a:r>
              <a:endParaRPr lang="en-US" sz="2870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3BB87DD-FF82-4621-A129-949D4B7C4869}"/>
              </a:ext>
            </a:extLst>
          </p:cNvPr>
          <p:cNvGrpSpPr/>
          <p:nvPr/>
        </p:nvGrpSpPr>
        <p:grpSpPr>
          <a:xfrm>
            <a:off x="19100427" y="27524942"/>
            <a:ext cx="3293088" cy="3312368"/>
            <a:chOff x="7586446" y="1513291"/>
            <a:chExt cx="1882049" cy="1893068"/>
          </a:xfrm>
        </p:grpSpPr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25EE139D-2E8F-4D6A-8AE9-3595D7C4E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6446" y="1524310"/>
              <a:ext cx="1882049" cy="1882049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DD37E55-BCF1-4E7F-AF5F-1759DAE1FDAB}"/>
                </a:ext>
              </a:extLst>
            </p:cNvPr>
            <p:cNvSpPr txBox="1"/>
            <p:nvPr/>
          </p:nvSpPr>
          <p:spPr>
            <a:xfrm>
              <a:off x="7758543" y="1513291"/>
              <a:ext cx="1583565" cy="20228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Predicted kinetic model - 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429175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y A0">
  <a:themeElements>
    <a:clrScheme name="Postery UMCH">
      <a:dk1>
        <a:sysClr val="windowText" lastClr="000000"/>
      </a:dk1>
      <a:lt1>
        <a:sysClr val="window" lastClr="FFFFFF"/>
      </a:lt1>
      <a:dk2>
        <a:srgbClr val="005C70"/>
      </a:dk2>
      <a:lt2>
        <a:srgbClr val="EEECE1"/>
      </a:lt2>
      <a:accent1>
        <a:srgbClr val="005C70"/>
      </a:accent1>
      <a:accent2>
        <a:srgbClr val="003A48"/>
      </a:accent2>
      <a:accent3>
        <a:srgbClr val="A5A5A5"/>
      </a:accent3>
      <a:accent4>
        <a:srgbClr val="F79646"/>
      </a:accent4>
      <a:accent5>
        <a:srgbClr val="F47732"/>
      </a:accent5>
      <a:accent6>
        <a:srgbClr val="9BBB59"/>
      </a:accent6>
      <a:hlink>
        <a:srgbClr val="F47732"/>
      </a:hlink>
      <a:folHlink>
        <a:srgbClr val="F47732"/>
      </a:folHlink>
    </a:clrScheme>
    <a:fontScheme name="Vlastní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>
            <a:alpha val="85000"/>
          </a:srgbClr>
        </a:solidFill>
        <a:ln w="1905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11430</TotalTime>
  <Words>903</Words>
  <Application>Microsoft Office PowerPoint</Application>
  <PresentationFormat>Custom</PresentationFormat>
  <Paragraphs>102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Myriad Pro</vt:lpstr>
      <vt:lpstr>Segoe WPC</vt:lpstr>
      <vt:lpstr>Wingdings</vt:lpstr>
      <vt:lpstr>Postery A0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Marcela Havelkova</dc:creator>
  <cp:lastModifiedBy>Muhammed Arshad Thottappali</cp:lastModifiedBy>
  <cp:revision>234</cp:revision>
  <dcterms:created xsi:type="dcterms:W3CDTF">2017-10-31T21:24:07Z</dcterms:created>
  <dcterms:modified xsi:type="dcterms:W3CDTF">2026-06-08T14:26:51Z</dcterms:modified>
</cp:coreProperties>
</file>